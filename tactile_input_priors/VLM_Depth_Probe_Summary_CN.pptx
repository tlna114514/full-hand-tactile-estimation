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PROBE REVIEW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01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VLM 与 Depth 输入先验：五轮 Probe 总结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502920" y="1572768"/>
            <a:ext cx="110185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22960" y="1874520"/>
            <a:ext cx="1115568" cy="31089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22960" y="1883664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VLM V1–V5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2084832" y="1874520"/>
            <a:ext cx="1298448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2084832" y="188366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900" b="1">
                <a:solidFill>
                  <a:srgbClr val="0F766E"/>
                </a:solidFill>
                <a:latin typeface="Microsoft YaHei"/>
                <a:ea typeface="Microsoft YaHei"/>
              </a:rPr>
              <a:t>Depth V1–V5</a:t>
            </a:r>
            <a:endParaRPr lang="zh-CN" sz="900"/>
          </a:p>
        </p:txBody>
      </p:sp>
      <p:sp>
        <p:nvSpPr>
          <p:cNvPr id="14" name="Text 14"/>
          <p:cNvSpPr txBox="1"/>
          <p:nvPr/>
        </p:nvSpPr>
        <p:spPr>
          <a:xfrm>
            <a:off x="822960" y="2432304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500" b="1">
                <a:solidFill>
                  <a:srgbClr val="17212B"/>
                </a:solidFill>
                <a:latin typeface="Microsoft YaHei"/>
                <a:ea typeface="Microsoft YaHei"/>
              </a:rPr>
              <a:t>我们真正要回答的不是“先验能否拟合标签”，
而是“它是否提供了 RGB-DINO 之外、与目标 query 对齐的因果信息”。</a:t>
            </a:r>
            <a:endParaRPr lang="zh-CN" sz="2500"/>
          </a:p>
        </p:txBody>
      </p:sp>
      <p:cxnSp>
        <p:nvCxnSpPr>
          <p:cNvPr id="15" name="Line 15"/>
          <p:cNvCxnSpPr/>
          <p:nvPr/>
        </p:nvCxnSpPr>
        <p:spPr>
          <a:xfrm>
            <a:off x="841248" y="3703320"/>
            <a:ext cx="10040112" cy="0"/>
          </a:xfrm>
          <a:prstGeom prst="line">
            <a:avLst/>
          </a:prstGeom>
          <a:ln w="12700">
            <a:solidFill>
              <a:srgbClr val="D7DEE8"/>
            </a:solidFill>
            <a:headEnd type="none"/>
            <a:tailEnd type="none"/>
          </a:ln>
        </p:spPr>
      </p:cxnSp>
      <p:sp>
        <p:nvSpPr>
          <p:cNvPr id="16" name="Shape 16"/>
          <p:cNvSpPr/>
          <p:nvPr/>
        </p:nvSpPr>
        <p:spPr>
          <a:xfrm>
            <a:off x="841248" y="4059936"/>
            <a:ext cx="2148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50976" y="4169664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5 + 5</a:t>
            </a:r>
            <a:endParaRPr lang="zh-CN" sz="2200"/>
          </a:p>
        </p:txBody>
      </p:sp>
      <p:sp>
        <p:nvSpPr>
          <p:cNvPr id="18" name="Text 18"/>
          <p:cNvSpPr txBox="1"/>
          <p:nvPr/>
        </p:nvSpPr>
        <p:spPr>
          <a:xfrm>
            <a:off x="950976" y="4581144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两条路线的probe迭代</a:t>
            </a:r>
            <a:endParaRPr lang="zh-CN" sz="950"/>
          </a:p>
        </p:txBody>
      </p:sp>
      <p:sp>
        <p:nvSpPr>
          <p:cNvPr id="19" name="Shape 19"/>
          <p:cNvSpPr/>
          <p:nvPr/>
        </p:nvSpPr>
        <p:spPr>
          <a:xfrm>
            <a:off x="3182112" y="4059936"/>
            <a:ext cx="2148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291840" y="4169664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EA580C"/>
                </a:solidFill>
                <a:latin typeface="Microsoft YaHei"/>
                <a:ea typeface="Microsoft YaHei"/>
              </a:rPr>
              <a:t>VLM: 弱</a:t>
            </a:r>
            <a:endParaRPr lang="zh-CN" sz="2200"/>
          </a:p>
        </p:txBody>
      </p:sp>
      <p:sp>
        <p:nvSpPr>
          <p:cNvPr id="21" name="Text 21"/>
          <p:cNvSpPr txBox="1"/>
          <p:nvPr/>
        </p:nvSpPr>
        <p:spPr>
          <a:xfrm>
            <a:off x="3291840" y="4581144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粗语义存在，query grounding不足</a:t>
            </a:r>
            <a:endParaRPr lang="zh-CN" sz="950"/>
          </a:p>
        </p:txBody>
      </p:sp>
      <p:sp>
        <p:nvSpPr>
          <p:cNvPr id="22" name="Shape 22"/>
          <p:cNvSpPr/>
          <p:nvPr/>
        </p:nvSpPr>
        <p:spPr>
          <a:xfrm>
            <a:off x="5522976" y="4059936"/>
            <a:ext cx="2148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5632704" y="4169664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0F766E"/>
                </a:solidFill>
                <a:latin typeface="Microsoft YaHei"/>
                <a:ea typeface="Microsoft YaHei"/>
              </a:rPr>
              <a:t>Depth: 有希望</a:t>
            </a:r>
            <a:endParaRPr lang="zh-CN" sz="2200"/>
          </a:p>
        </p:txBody>
      </p:sp>
      <p:sp>
        <p:nvSpPr>
          <p:cNvPr id="24" name="Text 24"/>
          <p:cNvSpPr txBox="1"/>
          <p:nvPr/>
        </p:nvSpPr>
        <p:spPr>
          <a:xfrm>
            <a:off x="5632704" y="4581144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最终图失败，中间latent转正</a:t>
            </a:r>
            <a:endParaRPr lang="zh-CN" sz="950"/>
          </a:p>
        </p:txBody>
      </p:sp>
      <p:sp>
        <p:nvSpPr>
          <p:cNvPr id="25" name="Shape 25"/>
          <p:cNvSpPr/>
          <p:nvPr/>
        </p:nvSpPr>
        <p:spPr>
          <a:xfrm>
            <a:off x="7863840" y="4059936"/>
            <a:ext cx="239572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973568" y="4169664"/>
            <a:ext cx="2176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Control first</a:t>
            </a:r>
            <a:endParaRPr lang="zh-CN" sz="2200"/>
          </a:p>
        </p:txBody>
      </p:sp>
      <p:sp>
        <p:nvSpPr>
          <p:cNvPr id="27" name="Text 27"/>
          <p:cNvSpPr txBox="1"/>
          <p:nvPr/>
        </p:nvSpPr>
        <p:spPr>
          <a:xfrm>
            <a:off x="7973568" y="4581144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正确输入必须击败shuffle/wrong</a:t>
            </a:r>
            <a:endParaRPr lang="zh-CN" sz="950"/>
          </a:p>
        </p:txBody>
      </p:sp>
      <p:sp>
        <p:nvSpPr>
          <p:cNvPr id="28" name="Text 28"/>
          <p:cNvSpPr txBox="1"/>
          <p:nvPr/>
        </p:nvSpPr>
        <p:spPr>
          <a:xfrm>
            <a:off x="859536" y="5230368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0">
                <a:solidFill>
                  <a:srgbClr val="5E6B78"/>
                </a:solidFill>
                <a:latin typeface="Microsoft YaHei"/>
                <a:ea typeface="Microsoft YaHei"/>
              </a:rPr>
              <a:t>数据：TouchAnything · 当前RGB基线：DINOv3 + FullGrid32 · 结论日期：2026-08-05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EXPERIMENT MAP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02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两条路线如何逐步收紧问题</a:t>
            </a:r>
            <a:endParaRPr lang="zh-CN" sz="2700"/>
          </a:p>
        </p:txBody>
      </p:sp>
      <p:sp>
        <p:nvSpPr>
          <p:cNvPr id="7" name="Text 7"/>
          <p:cNvSpPr txBox="1"/>
          <p:nvPr/>
        </p:nvSpPr>
        <p:spPr>
          <a:xfrm>
            <a:off x="521208" y="10789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250" b="0">
                <a:solidFill>
                  <a:srgbClr val="5E6B78"/>
                </a:solidFill>
                <a:latin typeface="Microsoft YaHei"/>
                <a:ea typeface="Microsoft YaHei"/>
              </a:rPr>
              <a:t>每一轮都在排除一种更简单的解释</a:t>
            </a:r>
            <a:endParaRPr lang="zh-CN" sz="1250"/>
          </a:p>
        </p:txBody>
      </p:sp>
      <p:cxnSp>
        <p:nvCxnSpPr>
          <p:cNvPr id="8" name="Line 8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9" name="Text 9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10" name="Shape 10"/>
          <p:cNvSpPr/>
          <p:nvPr/>
        </p:nvSpPr>
        <p:spPr>
          <a:xfrm>
            <a:off x="640080" y="1755648"/>
            <a:ext cx="1691640" cy="7498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685800" y="18288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2563EB"/>
                </a:solidFill>
                <a:latin typeface="Microsoft YaHei"/>
                <a:ea typeface="Microsoft YaHei"/>
              </a:rPr>
              <a:t>V1
全局表征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331720" y="2130552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headEnd type="none"/>
            <a:tailEnd type="none"/>
          </a:ln>
        </p:spPr>
      </p:cxnSp>
      <p:sp>
        <p:nvSpPr>
          <p:cNvPr id="13" name="Shape 13"/>
          <p:cNvSpPr/>
          <p:nvPr/>
        </p:nvSpPr>
        <p:spPr>
          <a:xfrm>
            <a:off x="2834640" y="1755648"/>
            <a:ext cx="1691640" cy="7498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2880360" y="18288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2563EB"/>
                </a:solidFill>
                <a:latin typeface="Microsoft YaHei"/>
                <a:ea typeface="Microsoft YaHei"/>
              </a:rPr>
              <a:t>V2
Prompt/结构化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4526280" y="2130552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headEnd type="none"/>
            <a:tailEnd type="none"/>
          </a:ln>
        </p:spPr>
      </p:cxnSp>
      <p:sp>
        <p:nvSpPr>
          <p:cNvPr id="16" name="Shape 16"/>
          <p:cNvSpPr/>
          <p:nvPr/>
        </p:nvSpPr>
        <p:spPr>
          <a:xfrm>
            <a:off x="5029200" y="1755648"/>
            <a:ext cx="1691640" cy="7498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5074920" y="18288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2563EB"/>
                </a:solidFill>
                <a:latin typeface="Microsoft YaHei"/>
                <a:ea typeface="Microsoft YaHei"/>
              </a:rPr>
              <a:t>V3
上下文视野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6720840" y="2130552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headEnd type="none"/>
            <a:tailEnd type="none"/>
          </a:ln>
        </p:spPr>
      </p:cxnSp>
      <p:sp>
        <p:nvSpPr>
          <p:cNvPr id="19" name="Shape 19"/>
          <p:cNvSpPr/>
          <p:nvPr/>
        </p:nvSpPr>
        <p:spPr>
          <a:xfrm>
            <a:off x="7223760" y="1755648"/>
            <a:ext cx="1691640" cy="7498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269480" y="18288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2563EB"/>
                </a:solidFill>
                <a:latin typeface="Microsoft YaHei"/>
                <a:ea typeface="Microsoft YaHei"/>
              </a:rPr>
              <a:t>V4
误差残差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8915400" y="2130552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headEnd type="none"/>
            <a:tailEnd type="none"/>
          </a:ln>
        </p:spPr>
      </p:cxnSp>
      <p:sp>
        <p:nvSpPr>
          <p:cNvPr id="22" name="Shape 22"/>
          <p:cNvSpPr/>
          <p:nvPr/>
        </p:nvSpPr>
        <p:spPr>
          <a:xfrm>
            <a:off x="9418320" y="1755648"/>
            <a:ext cx="1691640" cy="749808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EA580C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9464040" y="18288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EA580C"/>
                </a:solidFill>
                <a:latin typeface="Microsoft YaHei"/>
                <a:ea typeface="Microsoft YaHei"/>
              </a:rPr>
              <a:t>V5
接触状态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640080" y="14447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VLM：从“有语义吗”到“语义属于当前query吗”</a:t>
            </a:r>
            <a:endParaRPr lang="zh-CN" sz="1200"/>
          </a:p>
        </p:txBody>
      </p:sp>
      <p:sp>
        <p:nvSpPr>
          <p:cNvPr id="25" name="Shape 25"/>
          <p:cNvSpPr/>
          <p:nvPr/>
        </p:nvSpPr>
        <p:spPr>
          <a:xfrm>
            <a:off x="640080" y="4133088"/>
            <a:ext cx="1691640" cy="749808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85800" y="420624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</a:rPr>
              <a:t>V1
Teacher审计</a:t>
            </a:r>
            <a:endParaRPr lang="zh-CN" sz="1300"/>
          </a:p>
        </p:txBody>
      </p:sp>
      <p:cxnSp>
        <p:nvCxnSpPr>
          <p:cNvPr id="27" name="Line 27"/>
          <p:cNvCxnSpPr/>
          <p:nvPr/>
        </p:nvCxnSpPr>
        <p:spPr>
          <a:xfrm>
            <a:off x="2331720" y="4507992"/>
            <a:ext cx="502920" cy="0"/>
          </a:xfrm>
          <a:prstGeom prst="line">
            <a:avLst/>
          </a:prstGeom>
          <a:ln w="19050">
            <a:solidFill>
              <a:srgbClr val="0F766E"/>
            </a:solidFill>
            <a:headEnd type="none"/>
            <a:tailEnd type="none"/>
          </a:ln>
        </p:spPr>
      </p:cxnSp>
      <p:sp>
        <p:nvSpPr>
          <p:cNvPr id="28" name="Shape 28"/>
          <p:cNvSpPr/>
          <p:nvPr/>
        </p:nvSpPr>
        <p:spPr>
          <a:xfrm>
            <a:off x="2834640" y="4133088"/>
            <a:ext cx="1691640" cy="749808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2880360" y="420624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</a:rPr>
              <a:t>V2
最终深度图</a:t>
            </a:r>
            <a:endParaRPr lang="zh-CN" sz="1300"/>
          </a:p>
        </p:txBody>
      </p:sp>
      <p:cxnSp>
        <p:nvCxnSpPr>
          <p:cNvPr id="30" name="Line 30"/>
          <p:cNvCxnSpPr/>
          <p:nvPr/>
        </p:nvCxnSpPr>
        <p:spPr>
          <a:xfrm>
            <a:off x="4526280" y="4507992"/>
            <a:ext cx="502920" cy="0"/>
          </a:xfrm>
          <a:prstGeom prst="line">
            <a:avLst/>
          </a:prstGeom>
          <a:ln w="19050">
            <a:solidFill>
              <a:srgbClr val="0F766E"/>
            </a:solidFill>
            <a:headEnd type="none"/>
            <a:tailEnd type="none"/>
          </a:ln>
        </p:spPr>
      </p:cxnSp>
      <p:sp>
        <p:nvSpPr>
          <p:cNvPr id="31" name="Shape 31"/>
          <p:cNvSpPr/>
          <p:nvPr/>
        </p:nvSpPr>
        <p:spPr>
          <a:xfrm>
            <a:off x="5029200" y="4133088"/>
            <a:ext cx="1691640" cy="749808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074920" y="420624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</a:rPr>
              <a:t>V3
对齐/Shuffle</a:t>
            </a:r>
            <a:endParaRPr lang="zh-CN" sz="1300"/>
          </a:p>
        </p:txBody>
      </p:sp>
      <p:cxnSp>
        <p:nvCxnSpPr>
          <p:cNvPr id="33" name="Line 33"/>
          <p:cNvCxnSpPr/>
          <p:nvPr/>
        </p:nvCxnSpPr>
        <p:spPr>
          <a:xfrm>
            <a:off x="6720840" y="4507992"/>
            <a:ext cx="502920" cy="0"/>
          </a:xfrm>
          <a:prstGeom prst="line">
            <a:avLst/>
          </a:prstGeom>
          <a:ln w="19050">
            <a:solidFill>
              <a:srgbClr val="0F766E"/>
            </a:solidFill>
            <a:headEnd type="none"/>
            <a:tailEnd type="none"/>
          </a:ln>
        </p:spPr>
      </p:cxnSp>
      <p:sp>
        <p:nvSpPr>
          <p:cNvPr id="34" name="Shape 34"/>
          <p:cNvSpPr/>
          <p:nvPr/>
        </p:nvSpPr>
        <p:spPr>
          <a:xfrm>
            <a:off x="7223760" y="4133088"/>
            <a:ext cx="1691640" cy="749808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7269480" y="420624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</a:rPr>
              <a:t>V4
空间重建</a:t>
            </a:r>
            <a:endParaRPr lang="zh-CN" sz="1300"/>
          </a:p>
        </p:txBody>
      </p:sp>
      <p:cxnSp>
        <p:nvCxnSpPr>
          <p:cNvPr id="36" name="Line 36"/>
          <p:cNvCxnSpPr/>
          <p:nvPr/>
        </p:nvCxnSpPr>
        <p:spPr>
          <a:xfrm>
            <a:off x="8915400" y="4507992"/>
            <a:ext cx="502920" cy="0"/>
          </a:xfrm>
          <a:prstGeom prst="line">
            <a:avLst/>
          </a:prstGeom>
          <a:ln w="19050">
            <a:solidFill>
              <a:srgbClr val="0F766E"/>
            </a:solidFill>
            <a:headEnd type="none"/>
            <a:tailEnd type="none"/>
          </a:ln>
        </p:spPr>
      </p:cxnSp>
      <p:sp>
        <p:nvSpPr>
          <p:cNvPr id="37" name="Shape 37"/>
          <p:cNvSpPr/>
          <p:nvPr/>
        </p:nvSpPr>
        <p:spPr>
          <a:xfrm>
            <a:off x="9418320" y="4133088"/>
            <a:ext cx="1691640" cy="74980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9464040" y="420624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15803D"/>
                </a:solidFill>
                <a:latin typeface="Microsoft YaHei"/>
                <a:ea typeface="Microsoft YaHei"/>
              </a:rPr>
              <a:t>V5
中间Latent</a:t>
            </a:r>
            <a:endParaRPr lang="zh-CN" sz="1300"/>
          </a:p>
        </p:txBody>
      </p:sp>
      <p:sp>
        <p:nvSpPr>
          <p:cNvPr id="39" name="Text 39"/>
          <p:cNvSpPr txBox="1"/>
          <p:nvPr/>
        </p:nvSpPr>
        <p:spPr>
          <a:xfrm>
            <a:off x="640080" y="38221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200" b="1">
                <a:solidFill>
                  <a:srgbClr val="0F766E"/>
                </a:solidFill>
                <a:latin typeface="Microsoft YaHei"/>
                <a:ea typeface="Microsoft YaHei"/>
              </a:rPr>
              <a:t>Depth：从“有深度吗”到“几何是否空间因果”</a:t>
            </a:r>
            <a:endParaRPr lang="zh-CN" sz="1200"/>
          </a:p>
        </p:txBody>
      </p:sp>
      <p:sp>
        <p:nvSpPr>
          <p:cNvPr id="40" name="Shape 40"/>
          <p:cNvSpPr/>
          <p:nvPr/>
        </p:nvSpPr>
        <p:spPr>
          <a:xfrm>
            <a:off x="658368" y="5212080"/>
            <a:ext cx="5257800" cy="978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58368" y="5212080"/>
            <a:ext cx="73152" cy="97840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59536" y="534924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共同控制原则</a:t>
            </a:r>
            <a:endParaRPr lang="zh-CN" sz="1500"/>
          </a:p>
        </p:txBody>
      </p:sp>
      <p:sp>
        <p:nvSpPr>
          <p:cNvPr id="43" name="Text 43"/>
          <p:cNvSpPr txBox="1"/>
          <p:nvPr/>
        </p:nvSpPr>
        <p:spPr>
          <a:xfrm>
            <a:off x="841248" y="5733288"/>
            <a:ext cx="493776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sequence-heldout，而非随机帧划分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真实输入必须击败random / sequence / spatial shuffle</a:t>
            </a:r>
            <a:endParaRPr lang="zh-CN" sz="1150"/>
          </a:p>
        </p:txBody>
      </p:sp>
      <p:sp>
        <p:nvSpPr>
          <p:cNvPr id="44" name="Shape 44"/>
          <p:cNvSpPr/>
          <p:nvPr/>
        </p:nvSpPr>
        <p:spPr>
          <a:xfrm>
            <a:off x="6126480" y="5212080"/>
            <a:ext cx="5257800" cy="978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5" name="Shape 45"/>
          <p:cNvSpPr/>
          <p:nvPr/>
        </p:nvSpPr>
        <p:spPr>
          <a:xfrm>
            <a:off x="6126480" y="5212080"/>
            <a:ext cx="73152" cy="978408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6327648" y="534924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最终目标</a:t>
            </a:r>
            <a:endParaRPr lang="zh-CN" sz="1500"/>
          </a:p>
        </p:txBody>
      </p:sp>
      <p:sp>
        <p:nvSpPr>
          <p:cNvPr id="47" name="Text 47"/>
          <p:cNvSpPr txBox="1"/>
          <p:nvPr/>
        </p:nvSpPr>
        <p:spPr>
          <a:xfrm>
            <a:off x="6309360" y="5733288"/>
            <a:ext cx="493776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不是直接预测pressure magnitude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优先抑制错误接触并改善Contact/CoreLoc</a:t>
            </a:r>
            <a:endParaRPr lang="zh-CN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VLM · V1–V2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03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VLM有语义，但并没有超过DINO的连续触觉表征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658368" y="1563624"/>
            <a:ext cx="5074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1">
                <a:solidFill>
                  <a:srgbClr val="5E6B78"/>
                </a:solidFill>
                <a:latin typeface="Microsoft YaHei"/>
                <a:ea typeface="Microsoft YaHei"/>
              </a:rPr>
              <a:t>V1 · log1p(volume) R²（越高越好）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58368" y="1892808"/>
            <a:ext cx="1449324" cy="53721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DINO tight</a:t>
            </a:r>
            <a:endParaRPr lang="zh-CN" sz="1050"/>
          </a:p>
        </p:txBody>
      </p:sp>
      <p:sp>
        <p:nvSpPr>
          <p:cNvPr id="11" name="Shape 11"/>
          <p:cNvSpPr/>
          <p:nvPr/>
        </p:nvSpPr>
        <p:spPr>
          <a:xfrm>
            <a:off x="2180844" y="2020252"/>
            <a:ext cx="2791206" cy="244831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180844" y="2020252"/>
            <a:ext cx="2275763" cy="244831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045202" y="1883664"/>
            <a:ext cx="688086" cy="55549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0.367</a:t>
            </a:r>
            <a:endParaRPr lang="zh-CN" sz="1050"/>
          </a:p>
        </p:txBody>
      </p:sp>
      <p:sp>
        <p:nvSpPr>
          <p:cNvPr id="14" name="Text 14"/>
          <p:cNvSpPr txBox="1"/>
          <p:nvPr/>
        </p:nvSpPr>
        <p:spPr>
          <a:xfrm>
            <a:off x="658368" y="2475738"/>
            <a:ext cx="1449324" cy="53721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DINO wide</a:t>
            </a:r>
            <a:endParaRPr lang="zh-CN" sz="1050"/>
          </a:p>
        </p:txBody>
      </p:sp>
      <p:sp>
        <p:nvSpPr>
          <p:cNvPr id="15" name="Shape 15"/>
          <p:cNvSpPr/>
          <p:nvPr/>
        </p:nvSpPr>
        <p:spPr>
          <a:xfrm>
            <a:off x="2180844" y="2603182"/>
            <a:ext cx="2791206" cy="244831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180844" y="2603182"/>
            <a:ext cx="2535035" cy="244831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5045202" y="2466594"/>
            <a:ext cx="688086" cy="55549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0.409</a:t>
            </a:r>
            <a:endParaRPr lang="zh-CN" sz="1050"/>
          </a:p>
        </p:txBody>
      </p:sp>
      <p:sp>
        <p:nvSpPr>
          <p:cNvPr id="18" name="Text 18"/>
          <p:cNvSpPr txBox="1"/>
          <p:nvPr/>
        </p:nvSpPr>
        <p:spPr>
          <a:xfrm>
            <a:off x="658368" y="3058668"/>
            <a:ext cx="1449324" cy="53721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SigLIP2</a:t>
            </a:r>
            <a:endParaRPr lang="zh-CN" sz="1050"/>
          </a:p>
        </p:txBody>
      </p:sp>
      <p:sp>
        <p:nvSpPr>
          <p:cNvPr id="19" name="Shape 19"/>
          <p:cNvSpPr/>
          <p:nvPr/>
        </p:nvSpPr>
        <p:spPr>
          <a:xfrm>
            <a:off x="2180844" y="3186112"/>
            <a:ext cx="2791206" cy="244831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2180844" y="3186112"/>
            <a:ext cx="1590987" cy="244831"/>
          </a:xfrm>
          <a:prstGeom prst="round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045202" y="3049524"/>
            <a:ext cx="688086" cy="55549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EA580C"/>
                </a:solidFill>
                <a:latin typeface="Microsoft YaHei"/>
                <a:ea typeface="Microsoft YaHei"/>
              </a:rPr>
              <a:t>0.257</a:t>
            </a:r>
            <a:endParaRPr lang="zh-CN" sz="1050"/>
          </a:p>
        </p:txBody>
      </p:sp>
      <p:sp>
        <p:nvSpPr>
          <p:cNvPr id="22" name="Text 22"/>
          <p:cNvSpPr txBox="1"/>
          <p:nvPr/>
        </p:nvSpPr>
        <p:spPr>
          <a:xfrm>
            <a:off x="658368" y="3641598"/>
            <a:ext cx="1449324" cy="53721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Qwen3-VL</a:t>
            </a:r>
            <a:endParaRPr lang="zh-CN" sz="1050"/>
          </a:p>
        </p:txBody>
      </p:sp>
      <p:sp>
        <p:nvSpPr>
          <p:cNvPr id="23" name="Shape 23"/>
          <p:cNvSpPr/>
          <p:nvPr/>
        </p:nvSpPr>
        <p:spPr>
          <a:xfrm>
            <a:off x="2180844" y="3769042"/>
            <a:ext cx="2791206" cy="244831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2180844" y="3769042"/>
            <a:ext cx="1653014" cy="244831"/>
          </a:xfrm>
          <a:prstGeom prst="round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5045202" y="3632454"/>
            <a:ext cx="688086" cy="55549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EA580C"/>
                </a:solidFill>
                <a:latin typeface="Microsoft YaHei"/>
                <a:ea typeface="Microsoft YaHei"/>
              </a:rPr>
              <a:t>0.267</a:t>
            </a:r>
            <a:endParaRPr lang="zh-CN" sz="1050"/>
          </a:p>
        </p:txBody>
      </p:sp>
      <p:sp>
        <p:nvSpPr>
          <p:cNvPr id="26" name="Shape 26"/>
          <p:cNvSpPr/>
          <p:nvPr/>
        </p:nvSpPr>
        <p:spPr>
          <a:xfrm>
            <a:off x="6035040" y="1627632"/>
            <a:ext cx="528523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7" name="Shape 27"/>
          <p:cNvSpPr/>
          <p:nvPr/>
        </p:nvSpPr>
        <p:spPr>
          <a:xfrm>
            <a:off x="6035040" y="1627632"/>
            <a:ext cx="73152" cy="12984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236208" y="1764792"/>
            <a:ext cx="49651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V1：为什么做</a:t>
            </a:r>
            <a:endParaRPr lang="zh-CN" sz="1500"/>
          </a:p>
        </p:txBody>
      </p:sp>
      <p:sp>
        <p:nvSpPr>
          <p:cNvPr id="29" name="Text 29"/>
          <p:cNvSpPr txBox="1"/>
          <p:nvPr/>
        </p:nvSpPr>
        <p:spPr>
          <a:xfrm>
            <a:off x="6217920" y="2148840"/>
            <a:ext cx="4965192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比较局部crop、宽视野和通用VLM embedding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检验物体/动作语义能否补足DINO magnitude信息</a:t>
            </a:r>
            <a:endParaRPr lang="zh-CN" sz="1150"/>
          </a:p>
        </p:txBody>
      </p:sp>
      <p:sp>
        <p:nvSpPr>
          <p:cNvPr id="30" name="Shape 30"/>
          <p:cNvSpPr/>
          <p:nvPr/>
        </p:nvSpPr>
        <p:spPr>
          <a:xfrm>
            <a:off x="6035040" y="3108960"/>
            <a:ext cx="528523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035040" y="3108960"/>
            <a:ext cx="73152" cy="1298448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6236208" y="3246120"/>
            <a:ext cx="49651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V2：追加了什么</a:t>
            </a:r>
            <a:endParaRPr lang="zh-CN" sz="1500"/>
          </a:p>
        </p:txBody>
      </p:sp>
      <p:sp>
        <p:nvSpPr>
          <p:cNvPr id="33" name="Text 33"/>
          <p:cNvSpPr txBox="1"/>
          <p:nvPr/>
        </p:nvSpPr>
        <p:spPr>
          <a:xfrm>
            <a:off x="6217920" y="3630168"/>
            <a:ext cx="4965192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SigLIP concept ensemble与Qwen多类prompt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结构化Qwen JSON、ridge/MLP及shuffle controls</a:t>
            </a:r>
            <a:endParaRPr lang="zh-CN" sz="1150"/>
          </a:p>
        </p:txBody>
      </p:sp>
      <p:sp>
        <p:nvSpPr>
          <p:cNvPr id="34" name="Shape 34"/>
          <p:cNvSpPr/>
          <p:nvPr/>
        </p:nvSpPr>
        <p:spPr>
          <a:xfrm>
            <a:off x="749808" y="4681728"/>
            <a:ext cx="2286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859536" y="4791456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.329 → .339</a:t>
            </a:r>
            <a:endParaRPr lang="zh-CN" sz="2200"/>
          </a:p>
        </p:txBody>
      </p:sp>
      <p:sp>
        <p:nvSpPr>
          <p:cNvPr id="36" name="Text 36"/>
          <p:cNvSpPr txBox="1"/>
          <p:nvPr/>
        </p:nvSpPr>
        <p:spPr>
          <a:xfrm>
            <a:off x="859536" y="5202936"/>
            <a:ext cx="206654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DINO-wide → SigLIP volume R²</a:t>
            </a:r>
            <a:endParaRPr lang="zh-CN" sz="950"/>
          </a:p>
        </p:txBody>
      </p:sp>
      <p:sp>
        <p:nvSpPr>
          <p:cNvPr id="37" name="Shape 37"/>
          <p:cNvSpPr/>
          <p:nvPr/>
        </p:nvSpPr>
        <p:spPr>
          <a:xfrm>
            <a:off x="3218688" y="4681728"/>
            <a:ext cx="2286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3328416" y="4791456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BE123C"/>
                </a:solidFill>
                <a:latin typeface="Microsoft YaHei"/>
                <a:ea typeface="Microsoft YaHei"/>
              </a:rPr>
              <a:t>.752 → .740</a:t>
            </a:r>
            <a:endParaRPr lang="zh-CN" sz="2200"/>
          </a:p>
        </p:txBody>
      </p:sp>
      <p:sp>
        <p:nvSpPr>
          <p:cNvPr id="39" name="Text 39"/>
          <p:cNvSpPr txBox="1"/>
          <p:nvPr/>
        </p:nvSpPr>
        <p:spPr>
          <a:xfrm>
            <a:off x="3328416" y="5202936"/>
            <a:ext cx="206654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高压AUROC反而下降</a:t>
            </a:r>
            <a:endParaRPr lang="zh-CN" sz="950"/>
          </a:p>
        </p:txBody>
      </p:sp>
      <p:sp>
        <p:nvSpPr>
          <p:cNvPr id="40" name="Shape 40"/>
          <p:cNvSpPr/>
          <p:nvPr/>
        </p:nvSpPr>
        <p:spPr>
          <a:xfrm>
            <a:off x="6053328" y="4681728"/>
            <a:ext cx="2286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163056" y="4791456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BE123C"/>
                </a:solidFill>
                <a:latin typeface="Microsoft YaHei"/>
                <a:ea typeface="Microsoft YaHei"/>
              </a:rPr>
              <a:t>R² &lt; -20</a:t>
            </a:r>
            <a:endParaRPr lang="zh-CN" sz="2200"/>
          </a:p>
        </p:txBody>
      </p:sp>
      <p:sp>
        <p:nvSpPr>
          <p:cNvPr id="42" name="Text 42"/>
          <p:cNvSpPr txBox="1"/>
          <p:nvPr/>
        </p:nvSpPr>
        <p:spPr>
          <a:xfrm>
            <a:off x="6163056" y="5202936"/>
            <a:ext cx="206654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结构化Qwen MLP失稳</a:t>
            </a:r>
            <a:endParaRPr lang="zh-CN" sz="950"/>
          </a:p>
        </p:txBody>
      </p:sp>
      <p:sp>
        <p:nvSpPr>
          <p:cNvPr id="43" name="Shape 43"/>
          <p:cNvSpPr/>
          <p:nvPr/>
        </p:nvSpPr>
        <p:spPr>
          <a:xfrm>
            <a:off x="8540496" y="4617720"/>
            <a:ext cx="2779776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4" name="Shape 44"/>
          <p:cNvSpPr/>
          <p:nvPr/>
        </p:nvSpPr>
        <p:spPr>
          <a:xfrm>
            <a:off x="8540496" y="4617720"/>
            <a:ext cx="73152" cy="1417320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8741664" y="4754880"/>
            <a:ext cx="245973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阶段结论</a:t>
            </a:r>
            <a:endParaRPr lang="zh-CN" sz="1500"/>
          </a:p>
        </p:txBody>
      </p:sp>
      <p:sp>
        <p:nvSpPr>
          <p:cNvPr id="46" name="Text 46"/>
          <p:cNvSpPr txBox="1"/>
          <p:nvPr/>
        </p:nvSpPr>
        <p:spPr>
          <a:xfrm>
            <a:off x="8723376" y="5138928"/>
            <a:ext cx="2459736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VLM仅有小幅、指标选择性的增益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连续幅值仍由DINO-wide主导</a:t>
            </a:r>
            <a:endParaRPr lang="zh-CN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VLM · V3–V5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04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更强上下文没有解决query grounding，错误对照甚至更好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658368" y="1536192"/>
            <a:ext cx="5303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1">
                <a:solidFill>
                  <a:srgbClr val="5E6B78"/>
                </a:solidFill>
                <a:latin typeface="Microsoft YaHei"/>
                <a:ea typeface="Microsoft YaHei"/>
              </a:rPr>
              <a:t>V3 · Volume R²：错误/打乱上下文不应优于正确query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58368" y="1865376"/>
            <a:ext cx="1517904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Base</a:t>
            </a:r>
            <a:endParaRPr lang="zh-CN" sz="1050"/>
          </a:p>
        </p:txBody>
      </p:sp>
      <p:sp>
        <p:nvSpPr>
          <p:cNvPr id="11" name="Shape 11"/>
          <p:cNvSpPr/>
          <p:nvPr/>
        </p:nvSpPr>
        <p:spPr>
          <a:xfrm>
            <a:off x="2249424" y="1988820"/>
            <a:ext cx="2916936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249424" y="1988820"/>
            <a:ext cx="2415385" cy="23811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239512" y="1856232"/>
            <a:ext cx="7223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0.298</a:t>
            </a:r>
            <a:endParaRPr lang="zh-CN" sz="1050"/>
          </a:p>
        </p:txBody>
      </p:sp>
      <p:sp>
        <p:nvSpPr>
          <p:cNvPr id="14" name="Text 14"/>
          <p:cNvSpPr txBox="1"/>
          <p:nvPr/>
        </p:nvSpPr>
        <p:spPr>
          <a:xfrm>
            <a:off x="658368" y="2432304"/>
            <a:ext cx="1517904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Qwen marked</a:t>
            </a:r>
            <a:endParaRPr lang="zh-CN" sz="1050"/>
          </a:p>
        </p:txBody>
      </p:sp>
      <p:sp>
        <p:nvSpPr>
          <p:cNvPr id="15" name="Shape 15"/>
          <p:cNvSpPr/>
          <p:nvPr/>
        </p:nvSpPr>
        <p:spPr>
          <a:xfrm>
            <a:off x="2249424" y="2555748"/>
            <a:ext cx="2916936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249424" y="2555748"/>
            <a:ext cx="2572576" cy="238110"/>
          </a:xfrm>
          <a:prstGeom prst="round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5239512" y="2423160"/>
            <a:ext cx="7223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EA580C"/>
                </a:solidFill>
                <a:latin typeface="Microsoft YaHei"/>
                <a:ea typeface="Microsoft YaHei"/>
              </a:rPr>
              <a:t>0.318</a:t>
            </a:r>
            <a:endParaRPr lang="zh-CN" sz="1050"/>
          </a:p>
        </p:txBody>
      </p:sp>
      <p:sp>
        <p:nvSpPr>
          <p:cNvPr id="18" name="Text 18"/>
          <p:cNvSpPr txBox="1"/>
          <p:nvPr/>
        </p:nvSpPr>
        <p:spPr>
          <a:xfrm>
            <a:off x="658368" y="2999232"/>
            <a:ext cx="1517904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Qwen wrong</a:t>
            </a:r>
            <a:endParaRPr lang="zh-CN" sz="1050"/>
          </a:p>
        </p:txBody>
      </p:sp>
      <p:sp>
        <p:nvSpPr>
          <p:cNvPr id="19" name="Shape 19"/>
          <p:cNvSpPr/>
          <p:nvPr/>
        </p:nvSpPr>
        <p:spPr>
          <a:xfrm>
            <a:off x="2249424" y="3122676"/>
            <a:ext cx="2916936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2249424" y="3122676"/>
            <a:ext cx="2580678" cy="238110"/>
          </a:xfrm>
          <a:prstGeom prst="round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239512" y="2990088"/>
            <a:ext cx="7223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BE123C"/>
                </a:solidFill>
                <a:latin typeface="Microsoft YaHei"/>
                <a:ea typeface="Microsoft YaHei"/>
              </a:rPr>
              <a:t>0.319</a:t>
            </a:r>
            <a:endParaRPr lang="zh-CN" sz="1050"/>
          </a:p>
        </p:txBody>
      </p:sp>
      <p:sp>
        <p:nvSpPr>
          <p:cNvPr id="22" name="Text 22"/>
          <p:cNvSpPr txBox="1"/>
          <p:nvPr/>
        </p:nvSpPr>
        <p:spPr>
          <a:xfrm>
            <a:off x="658368" y="3566160"/>
            <a:ext cx="1517904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Context shuffle</a:t>
            </a:r>
            <a:endParaRPr lang="zh-CN" sz="1050"/>
          </a:p>
        </p:txBody>
      </p:sp>
      <p:sp>
        <p:nvSpPr>
          <p:cNvPr id="23" name="Shape 23"/>
          <p:cNvSpPr/>
          <p:nvPr/>
        </p:nvSpPr>
        <p:spPr>
          <a:xfrm>
            <a:off x="2249424" y="3689604"/>
            <a:ext cx="2916936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2249424" y="3689604"/>
            <a:ext cx="2690063" cy="238110"/>
          </a:xfrm>
          <a:prstGeom prst="round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5239512" y="3557016"/>
            <a:ext cx="7223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BE123C"/>
                </a:solidFill>
                <a:latin typeface="Microsoft YaHei"/>
                <a:ea typeface="Microsoft YaHei"/>
              </a:rPr>
              <a:t>0.332</a:t>
            </a:r>
            <a:endParaRPr lang="zh-CN" sz="1050"/>
          </a:p>
        </p:txBody>
      </p:sp>
      <p:sp>
        <p:nvSpPr>
          <p:cNvPr id="26" name="Text 26"/>
          <p:cNvSpPr txBox="1"/>
          <p:nvPr/>
        </p:nvSpPr>
        <p:spPr>
          <a:xfrm>
            <a:off x="6263640" y="153619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1">
                <a:solidFill>
                  <a:srgbClr val="5E6B78"/>
                </a:solidFill>
                <a:latin typeface="Microsoft YaHei"/>
                <a:ea typeface="Microsoft YaHei"/>
              </a:rPr>
              <a:t>V5 · 四类接触状态准确率（GT threshold=.05）</a:t>
            </a:r>
            <a:endParaRPr lang="zh-CN" sz="1100"/>
          </a:p>
        </p:txBody>
      </p:sp>
      <p:sp>
        <p:nvSpPr>
          <p:cNvPr id="27" name="Text 27"/>
          <p:cNvSpPr txBox="1"/>
          <p:nvPr/>
        </p:nvSpPr>
        <p:spPr>
          <a:xfrm>
            <a:off x="6263640" y="1865376"/>
            <a:ext cx="1353312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DINO query</a:t>
            </a:r>
            <a:endParaRPr lang="zh-CN" sz="1050"/>
          </a:p>
        </p:txBody>
      </p:sp>
      <p:sp>
        <p:nvSpPr>
          <p:cNvPr id="28" name="Shape 28"/>
          <p:cNvSpPr/>
          <p:nvPr/>
        </p:nvSpPr>
        <p:spPr>
          <a:xfrm>
            <a:off x="7690104" y="1988820"/>
            <a:ext cx="2615184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690104" y="1988820"/>
            <a:ext cx="2485316" cy="23811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10378440" y="1856232"/>
            <a:ext cx="640080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0.836</a:t>
            </a:r>
            <a:endParaRPr lang="zh-CN" sz="1050"/>
          </a:p>
        </p:txBody>
      </p:sp>
      <p:sp>
        <p:nvSpPr>
          <p:cNvPr id="31" name="Text 31"/>
          <p:cNvSpPr txBox="1"/>
          <p:nvPr/>
        </p:nvSpPr>
        <p:spPr>
          <a:xfrm>
            <a:off x="6263640" y="2432304"/>
            <a:ext cx="1353312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SigLIP global</a:t>
            </a:r>
            <a:endParaRPr lang="zh-CN" sz="1050"/>
          </a:p>
        </p:txBody>
      </p:sp>
      <p:sp>
        <p:nvSpPr>
          <p:cNvPr id="32" name="Shape 32"/>
          <p:cNvSpPr/>
          <p:nvPr/>
        </p:nvSpPr>
        <p:spPr>
          <a:xfrm>
            <a:off x="7690104" y="2555748"/>
            <a:ext cx="2615184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33" name="Shape 33"/>
          <p:cNvSpPr/>
          <p:nvPr/>
        </p:nvSpPr>
        <p:spPr>
          <a:xfrm>
            <a:off x="7690104" y="2555748"/>
            <a:ext cx="2501958" cy="238110"/>
          </a:xfrm>
          <a:prstGeom prst="round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10378440" y="2423160"/>
            <a:ext cx="640080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EA580C"/>
                </a:solidFill>
                <a:latin typeface="Microsoft YaHei"/>
                <a:ea typeface="Microsoft YaHei"/>
              </a:rPr>
              <a:t>0.842</a:t>
            </a:r>
            <a:endParaRPr lang="zh-CN" sz="1050"/>
          </a:p>
        </p:txBody>
      </p:sp>
      <p:sp>
        <p:nvSpPr>
          <p:cNvPr id="35" name="Text 35"/>
          <p:cNvSpPr txBox="1"/>
          <p:nvPr/>
        </p:nvSpPr>
        <p:spPr>
          <a:xfrm>
            <a:off x="6263640" y="2999232"/>
            <a:ext cx="1353312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Qwen correct</a:t>
            </a:r>
            <a:endParaRPr lang="zh-CN" sz="1050"/>
          </a:p>
        </p:txBody>
      </p:sp>
      <p:sp>
        <p:nvSpPr>
          <p:cNvPr id="36" name="Shape 36"/>
          <p:cNvSpPr/>
          <p:nvPr/>
        </p:nvSpPr>
        <p:spPr>
          <a:xfrm>
            <a:off x="7690104" y="3122676"/>
            <a:ext cx="2615184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37" name="Shape 37"/>
          <p:cNvSpPr/>
          <p:nvPr/>
        </p:nvSpPr>
        <p:spPr>
          <a:xfrm>
            <a:off x="7690104" y="3122676"/>
            <a:ext cx="2489477" cy="238110"/>
          </a:xfrm>
          <a:prstGeom prst="round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10378440" y="2990088"/>
            <a:ext cx="640080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EA580C"/>
                </a:solidFill>
                <a:latin typeface="Microsoft YaHei"/>
                <a:ea typeface="Microsoft YaHei"/>
              </a:rPr>
              <a:t>0.838</a:t>
            </a:r>
            <a:endParaRPr lang="zh-CN" sz="1050"/>
          </a:p>
        </p:txBody>
      </p:sp>
      <p:sp>
        <p:nvSpPr>
          <p:cNvPr id="39" name="Text 39"/>
          <p:cNvSpPr txBox="1"/>
          <p:nvPr/>
        </p:nvSpPr>
        <p:spPr>
          <a:xfrm>
            <a:off x="6263640" y="3566160"/>
            <a:ext cx="1353312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Qwen wrong</a:t>
            </a:r>
            <a:endParaRPr lang="zh-CN" sz="1050"/>
          </a:p>
        </p:txBody>
      </p:sp>
      <p:sp>
        <p:nvSpPr>
          <p:cNvPr id="40" name="Shape 40"/>
          <p:cNvSpPr/>
          <p:nvPr/>
        </p:nvSpPr>
        <p:spPr>
          <a:xfrm>
            <a:off x="7690104" y="3689604"/>
            <a:ext cx="2615184" cy="23811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41" name="Shape 41"/>
          <p:cNvSpPr/>
          <p:nvPr/>
        </p:nvSpPr>
        <p:spPr>
          <a:xfrm>
            <a:off x="7690104" y="3689604"/>
            <a:ext cx="2500770" cy="238110"/>
          </a:xfrm>
          <a:prstGeom prst="round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78440" y="3557016"/>
            <a:ext cx="640080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BE123C"/>
                </a:solidFill>
                <a:latin typeface="Microsoft YaHei"/>
                <a:ea typeface="Microsoft YaHei"/>
              </a:rPr>
              <a:t>0.842</a:t>
            </a:r>
            <a:endParaRPr lang="zh-CN" sz="1050"/>
          </a:p>
        </p:txBody>
      </p:sp>
      <p:sp>
        <p:nvSpPr>
          <p:cNvPr id="43" name="Shape 43"/>
          <p:cNvSpPr/>
          <p:nvPr/>
        </p:nvSpPr>
        <p:spPr>
          <a:xfrm>
            <a:off x="685800" y="4590288"/>
            <a:ext cx="3383280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4" name="Shape 44"/>
          <p:cNvSpPr/>
          <p:nvPr/>
        </p:nvSpPr>
        <p:spPr>
          <a:xfrm>
            <a:off x="685800" y="4590288"/>
            <a:ext cx="73152" cy="1408176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886968" y="4727448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V3 · Context</a:t>
            </a:r>
            <a:endParaRPr lang="zh-CN" sz="1500"/>
          </a:p>
        </p:txBody>
      </p:sp>
      <p:sp>
        <p:nvSpPr>
          <p:cNvPr id="46" name="Text 46"/>
          <p:cNvSpPr txBox="1"/>
          <p:nvPr/>
        </p:nvSpPr>
        <p:spPr>
          <a:xfrm>
            <a:off x="868680" y="5111496"/>
            <a:ext cx="306324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full-frame、marked query、dual-view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提升更像场景/动作先验</a:t>
            </a:r>
            <a:endParaRPr lang="zh-CN" sz="1150"/>
          </a:p>
        </p:txBody>
      </p:sp>
      <p:sp>
        <p:nvSpPr>
          <p:cNvPr id="47" name="Shape 47"/>
          <p:cNvSpPr/>
          <p:nvPr/>
        </p:nvSpPr>
        <p:spPr>
          <a:xfrm>
            <a:off x="4270248" y="4590288"/>
            <a:ext cx="3383280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8" name="Shape 48"/>
          <p:cNvSpPr/>
          <p:nvPr/>
        </p:nvSpPr>
        <p:spPr>
          <a:xfrm>
            <a:off x="4270248" y="4590288"/>
            <a:ext cx="73152" cy="1408176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4471416" y="4727448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V4 · Residual</a:t>
            </a:r>
            <a:endParaRPr lang="zh-CN" sz="1500"/>
          </a:p>
        </p:txBody>
      </p:sp>
      <p:sp>
        <p:nvSpPr>
          <p:cNvPr id="50" name="Text 50"/>
          <p:cNvSpPr txBox="1"/>
          <p:nvPr/>
        </p:nvSpPr>
        <p:spPr>
          <a:xfrm>
            <a:off x="4453128" y="5111496"/>
            <a:ext cx="306324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False-high AUROC约 .62–.66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纠错量与false-high excess R²≈0</a:t>
            </a:r>
            <a:endParaRPr lang="zh-CN" sz="1150"/>
          </a:p>
        </p:txBody>
      </p:sp>
      <p:sp>
        <p:nvSpPr>
          <p:cNvPr id="51" name="Shape 51"/>
          <p:cNvSpPr/>
          <p:nvPr/>
        </p:nvSpPr>
        <p:spPr>
          <a:xfrm>
            <a:off x="7854696" y="4590288"/>
            <a:ext cx="3383280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52" name="Shape 52"/>
          <p:cNvSpPr/>
          <p:nvPr/>
        </p:nvSpPr>
        <p:spPr>
          <a:xfrm>
            <a:off x="7854696" y="4590288"/>
            <a:ext cx="73152" cy="1408176"/>
          </a:xfrm>
          <a:prstGeom prst="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8055864" y="4727448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V5 · Contact state</a:t>
            </a:r>
            <a:endParaRPr lang="zh-CN" sz="1500"/>
          </a:p>
        </p:txBody>
      </p:sp>
      <p:sp>
        <p:nvSpPr>
          <p:cNvPr id="54" name="Text 54"/>
          <p:cNvSpPr txBox="1"/>
          <p:nvPr/>
        </p:nvSpPr>
        <p:spPr>
          <a:xfrm>
            <a:off x="8037576" y="5111496"/>
            <a:ext cx="306324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能粗分接触状态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但wrong query ≥ correct query</a:t>
            </a:r>
            <a:endParaRPr lang="zh-CN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VLM VERDICT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05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VLM不是完全无信号，但当前信号不够query-specific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685800" y="1627632"/>
            <a:ext cx="33832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85800" y="1627632"/>
            <a:ext cx="73152" cy="1993392"/>
          </a:xfrm>
          <a:prstGeom prst="rect">
            <a:avLst/>
          </a:prstGeom>
          <a:solidFill>
            <a:srgbClr val="15803D"/>
          </a:solidFill>
          <a:ln w="10160">
            <a:solidFill>
              <a:srgbClr val="15803D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86968" y="1764792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已经证实</a:t>
            </a:r>
            <a:endParaRPr lang="zh-CN" sz="1500"/>
          </a:p>
        </p:txBody>
      </p:sp>
      <p:sp>
        <p:nvSpPr>
          <p:cNvPr id="12" name="Text 12"/>
          <p:cNvSpPr txBox="1"/>
          <p:nvPr/>
        </p:nvSpPr>
        <p:spPr>
          <a:xfrm>
            <a:off x="868680" y="2148840"/>
            <a:ext cx="306324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可以识别物体/动作与场景难度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对nonempty、finger/palm状态有弱增益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全图与标记query优于只看紧crop的部分设置</a:t>
            </a:r>
            <a:endParaRPr lang="zh-CN" sz="1150"/>
          </a:p>
        </p:txBody>
      </p:sp>
      <p:sp>
        <p:nvSpPr>
          <p:cNvPr id="13" name="Shape 13"/>
          <p:cNvSpPr/>
          <p:nvPr/>
        </p:nvSpPr>
        <p:spPr>
          <a:xfrm>
            <a:off x="4389120" y="1627632"/>
            <a:ext cx="33832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9120" y="1627632"/>
            <a:ext cx="73152" cy="1993392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4590288" y="1764792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尚未证实</a:t>
            </a:r>
            <a:endParaRPr lang="zh-CN" sz="1500"/>
          </a:p>
        </p:txBody>
      </p:sp>
      <p:sp>
        <p:nvSpPr>
          <p:cNvPr id="16" name="Text 16"/>
          <p:cNvSpPr txBox="1"/>
          <p:nvPr/>
        </p:nvSpPr>
        <p:spPr>
          <a:xfrm>
            <a:off x="4572000" y="2148840"/>
            <a:ext cx="306324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语义确实属于当前匿名query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能够预测正确的压力修正方向与幅值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能够稳定减少false-high excess</a:t>
            </a:r>
            <a:endParaRPr lang="zh-CN" sz="1150"/>
          </a:p>
        </p:txBody>
      </p:sp>
      <p:sp>
        <p:nvSpPr>
          <p:cNvPr id="17" name="Shape 17"/>
          <p:cNvSpPr/>
          <p:nvPr/>
        </p:nvSpPr>
        <p:spPr>
          <a:xfrm>
            <a:off x="8092440" y="1627632"/>
            <a:ext cx="33832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092440" y="1627632"/>
            <a:ext cx="73152" cy="1993392"/>
          </a:xfrm>
          <a:prstGeom prst="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293608" y="1764792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主要风险</a:t>
            </a:r>
            <a:endParaRPr lang="zh-CN" sz="1500"/>
          </a:p>
        </p:txBody>
      </p:sp>
      <p:sp>
        <p:nvSpPr>
          <p:cNvPr id="20" name="Text 20"/>
          <p:cNvSpPr txBox="1"/>
          <p:nvPr/>
        </p:nvSpPr>
        <p:spPr>
          <a:xfrm>
            <a:off x="8275320" y="2148840"/>
            <a:ext cx="306324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动作、背景和物体类别shortcut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wrong/shuffle controls仍然很强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生成式结构输出噪声和不可校准</a:t>
            </a:r>
            <a:endParaRPr lang="zh-CN" sz="1150"/>
          </a:p>
        </p:txBody>
      </p:sp>
      <p:sp>
        <p:nvSpPr>
          <p:cNvPr id="21" name="Shape 21"/>
          <p:cNvSpPr/>
          <p:nvPr/>
        </p:nvSpPr>
        <p:spPr>
          <a:xfrm>
            <a:off x="694944" y="4050792"/>
            <a:ext cx="10771632" cy="1517904"/>
          </a:xfrm>
          <a:prstGeom prst="roundRect">
            <a:avLst/>
          </a:prstGeom>
          <a:solidFill>
            <a:srgbClr val="EEF3FF"/>
          </a:solidFill>
          <a:ln w="10160">
            <a:solidFill>
              <a:srgbClr val="BFD3F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932688" y="42976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400" b="1">
                <a:solidFill>
                  <a:srgbClr val="2563EB"/>
                </a:solidFill>
                <a:latin typeface="Microsoft YaHei"/>
                <a:ea typeface="Microsoft YaHei"/>
              </a:rPr>
              <a:t>最后一次值得做的Probe</a:t>
            </a:r>
            <a:endParaRPr lang="zh-CN" sz="1400"/>
          </a:p>
        </p:txBody>
      </p:sp>
      <p:sp>
        <p:nvSpPr>
          <p:cNvPr id="23" name="Text 23"/>
          <p:cNvSpPr txBox="1"/>
          <p:nvPr/>
        </p:nvSpPr>
        <p:spPr>
          <a:xfrm>
            <a:off x="2788920" y="4242816"/>
            <a:ext cx="8183880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300" b="0">
                <a:solidFill>
                  <a:srgbClr val="17212B"/>
                </a:solidFill>
                <a:latin typeface="Microsoft YaHei"/>
                <a:ea typeface="Microsoft YaHei"/>
              </a:rPr>
              <a:t>同一帧、标签相反的真实query pair，消除场景与动作捷径</a:t>
            </a:r>
            <a:endParaRPr lang="zh-CN" sz="1300"/>
          </a:p>
          <a:p>
            <a:pPr algn="l" marL="260000" indent="-180000">
              <a:buChar char="•"/>
            </a:pPr>
            <a:r>
              <a:rPr lang="zh-CN" sz="1300" b="0">
                <a:solidFill>
                  <a:srgbClr val="17212B"/>
                </a:solidFill>
                <a:latin typeface="Microsoft YaHei"/>
                <a:ea typeface="Microsoft YaHei"/>
              </a:rPr>
              <a:t>Qwen closed-set概率 + query marker；DINO/SigLIP做参数匹配对照</a:t>
            </a:r>
            <a:endParaRPr lang="zh-CN" sz="1300"/>
          </a:p>
          <a:p>
            <a:pPr algn="l" marL="260000" indent="-180000">
              <a:buChar char="•"/>
            </a:pPr>
            <a:r>
              <a:rPr lang="zh-CN" sz="1300" b="0">
                <a:solidFill>
                  <a:srgbClr val="17212B"/>
                </a:solidFill>
                <a:latin typeface="Microsoft YaHei"/>
                <a:ea typeface="Microsoft YaHei"/>
              </a:rPr>
              <a:t>correct / wrong / unmarked / foreign / token-shuffle 全套控制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932688" y="5760720"/>
            <a:ext cx="2148840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932688" y="576986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900" b="1">
                <a:solidFill>
                  <a:srgbClr val="15803D"/>
                </a:solidFill>
                <a:latin typeface="Microsoft YaHei"/>
                <a:ea typeface="Microsoft YaHei"/>
              </a:rPr>
              <a:t>通过 → Scale-only FiLM</a:t>
            </a:r>
            <a:endParaRPr lang="zh-CN" sz="900"/>
          </a:p>
        </p:txBody>
      </p:sp>
      <p:sp>
        <p:nvSpPr>
          <p:cNvPr id="26" name="Shape 26"/>
          <p:cNvSpPr/>
          <p:nvPr/>
        </p:nvSpPr>
        <p:spPr>
          <a:xfrm>
            <a:off x="3337560" y="5760720"/>
            <a:ext cx="2331720" cy="310896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FE4E6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3337560" y="576986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900" b="1">
                <a:solidFill>
                  <a:srgbClr val="BE123C"/>
                </a:solidFill>
                <a:latin typeface="Microsoft YaHei"/>
                <a:ea typeface="Microsoft YaHei"/>
              </a:rPr>
              <a:t>失败 → 停止VLM主线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DEPTH · V1–V3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06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最终深度图能表示“接近/边界”，却没有证明局部几何因果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713232" y="1673352"/>
            <a:ext cx="221284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22960" y="17830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BE123C"/>
                </a:solidFill>
                <a:latin typeface="Microsoft YaHei"/>
                <a:ea typeface="Microsoft YaHei"/>
              </a:rPr>
              <a:t>−0.937</a:t>
            </a:r>
            <a:endParaRPr lang="zh-CN" sz="2200"/>
          </a:p>
        </p:txBody>
      </p:sp>
      <p:sp>
        <p:nvSpPr>
          <p:cNvPr id="11" name="Text 11"/>
          <p:cNvSpPr txBox="1"/>
          <p:nvPr/>
        </p:nvSpPr>
        <p:spPr>
          <a:xfrm>
            <a:off x="822960" y="2194560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MoGe2 vs DA2归一化相关</a:t>
            </a:r>
            <a:endParaRPr lang="zh-CN" sz="950"/>
          </a:p>
        </p:txBody>
      </p:sp>
      <p:sp>
        <p:nvSpPr>
          <p:cNvPr id="12" name="Shape 12"/>
          <p:cNvSpPr/>
          <p:nvPr/>
        </p:nvSpPr>
        <p:spPr>
          <a:xfrm>
            <a:off x="3127248" y="1673352"/>
            <a:ext cx="221284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3236976" y="17830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EA580C"/>
                </a:solidFill>
                <a:latin typeface="Microsoft YaHei"/>
                <a:ea typeface="Microsoft YaHei"/>
              </a:rPr>
              <a:t>.636</a:t>
            </a:r>
            <a:endParaRPr lang="zh-CN" sz="2200"/>
          </a:p>
        </p:txBody>
      </p:sp>
      <p:sp>
        <p:nvSpPr>
          <p:cNvPr id="14" name="Text 14"/>
          <p:cNvSpPr txBox="1"/>
          <p:nvPr/>
        </p:nvSpPr>
        <p:spPr>
          <a:xfrm>
            <a:off x="3236976" y="2194560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两teacher归一化MAE</a:t>
            </a:r>
            <a:endParaRPr lang="zh-CN" sz="950"/>
          </a:p>
        </p:txBody>
      </p:sp>
      <p:sp>
        <p:nvSpPr>
          <p:cNvPr id="15" name="Shape 15"/>
          <p:cNvSpPr/>
          <p:nvPr/>
        </p:nvSpPr>
        <p:spPr>
          <a:xfrm>
            <a:off x="5541264" y="1673352"/>
            <a:ext cx="221284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650992" y="17830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0F766E"/>
                </a:solidFill>
                <a:latin typeface="Microsoft YaHei"/>
                <a:ea typeface="Microsoft YaHei"/>
              </a:rPr>
              <a:t>.99±</a:t>
            </a:r>
            <a:endParaRPr lang="zh-CN" sz="2200"/>
          </a:p>
        </p:txBody>
      </p:sp>
      <p:sp>
        <p:nvSpPr>
          <p:cNvPr id="17" name="Text 17"/>
          <p:cNvSpPr txBox="1"/>
          <p:nvPr/>
        </p:nvSpPr>
        <p:spPr>
          <a:xfrm>
            <a:off x="5650992" y="2194560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dense depth的nonempty AUROC</a:t>
            </a:r>
            <a:endParaRPr lang="zh-CN" sz="950"/>
          </a:p>
        </p:txBody>
      </p:sp>
      <p:sp>
        <p:nvSpPr>
          <p:cNvPr id="18" name="Shape 18"/>
          <p:cNvSpPr/>
          <p:nvPr/>
        </p:nvSpPr>
        <p:spPr>
          <a:xfrm>
            <a:off x="7955280" y="1673352"/>
            <a:ext cx="257860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065008" y="1783080"/>
            <a:ext cx="23591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BE123C"/>
                </a:solidFill>
                <a:latin typeface="Microsoft YaHei"/>
                <a:ea typeface="Microsoft YaHei"/>
              </a:rPr>
              <a:t>R² ≤ 0</a:t>
            </a:r>
            <a:endParaRPr lang="zh-CN" sz="2200"/>
          </a:p>
        </p:txBody>
      </p:sp>
      <p:sp>
        <p:nvSpPr>
          <p:cNvPr id="20" name="Text 20"/>
          <p:cNvSpPr txBox="1"/>
          <p:nvPr/>
        </p:nvSpPr>
        <p:spPr>
          <a:xfrm>
            <a:off x="8065008" y="2194560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连续magnitude普遍失败</a:t>
            </a:r>
            <a:endParaRPr lang="zh-CN" sz="950"/>
          </a:p>
        </p:txBody>
      </p:sp>
      <p:sp>
        <p:nvSpPr>
          <p:cNvPr id="21" name="Shape 21"/>
          <p:cNvSpPr/>
          <p:nvPr/>
        </p:nvSpPr>
        <p:spPr>
          <a:xfrm>
            <a:off x="713232" y="2852928"/>
            <a:ext cx="32918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2" name="Shape 22"/>
          <p:cNvSpPr/>
          <p:nvPr/>
        </p:nvSpPr>
        <p:spPr>
          <a:xfrm>
            <a:off x="713232" y="2852928"/>
            <a:ext cx="73152" cy="199339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914400" y="299008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V1 · Teacher audit</a:t>
            </a:r>
            <a:endParaRPr lang="zh-CN" sz="1500"/>
          </a:p>
        </p:txBody>
      </p:sp>
      <p:sp>
        <p:nvSpPr>
          <p:cNvPr id="24" name="Text 24"/>
          <p:cNvSpPr txBox="1"/>
          <p:nvPr/>
        </p:nvSpPr>
        <p:spPr>
          <a:xfrm>
            <a:off x="896112" y="3374136"/>
            <a:ext cx="297180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MoGe2与DA2输出方向/尺度定义不同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raw depth不可直接拼接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改用归一化、rank、gradient与normal</a:t>
            </a:r>
            <a:endParaRPr lang="zh-CN" sz="1150"/>
          </a:p>
        </p:txBody>
      </p:sp>
      <p:sp>
        <p:nvSpPr>
          <p:cNvPr id="25" name="Shape 25"/>
          <p:cNvSpPr/>
          <p:nvPr/>
        </p:nvSpPr>
        <p:spPr>
          <a:xfrm>
            <a:off x="4224528" y="2852928"/>
            <a:ext cx="32918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6" name="Shape 26"/>
          <p:cNvSpPr/>
          <p:nvPr/>
        </p:nvSpPr>
        <p:spPr>
          <a:xfrm>
            <a:off x="4224528" y="2852928"/>
            <a:ext cx="73152" cy="199339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425696" y="299008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V2 · Final maps</a:t>
            </a:r>
            <a:endParaRPr lang="zh-CN" sz="1500"/>
          </a:p>
        </p:txBody>
      </p:sp>
      <p:sp>
        <p:nvSpPr>
          <p:cNvPr id="28" name="Text 28"/>
          <p:cNvSpPr txBox="1"/>
          <p:nvPr/>
        </p:nvSpPr>
        <p:spPr>
          <a:xfrm>
            <a:off x="4407408" y="3374136"/>
            <a:ext cx="297180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global/dense/normal/raw-log均测试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能预测是否接触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RGB edge常能复现其收益</a:t>
            </a:r>
            <a:endParaRPr lang="zh-CN" sz="1150"/>
          </a:p>
        </p:txBody>
      </p:sp>
      <p:sp>
        <p:nvSpPr>
          <p:cNvPr id="29" name="Shape 29"/>
          <p:cNvSpPr/>
          <p:nvPr/>
        </p:nvSpPr>
        <p:spPr>
          <a:xfrm>
            <a:off x="7735824" y="2852928"/>
            <a:ext cx="32918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30" name="Shape 30"/>
          <p:cNvSpPr/>
          <p:nvPr/>
        </p:nvSpPr>
        <p:spPr>
          <a:xfrm>
            <a:off x="7735824" y="2852928"/>
            <a:ext cx="73152" cy="1993392"/>
          </a:xfrm>
          <a:prstGeom prst="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7936992" y="299008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V3 · Causal controls</a:t>
            </a:r>
            <a:endParaRPr lang="zh-CN" sz="1500"/>
          </a:p>
        </p:txBody>
      </p:sp>
      <p:sp>
        <p:nvSpPr>
          <p:cNvPr id="32" name="Text 32"/>
          <p:cNvSpPr txBox="1"/>
          <p:nvPr/>
        </p:nvSpPr>
        <p:spPr>
          <a:xfrm>
            <a:off x="7918704" y="3374136"/>
            <a:ext cx="297180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aligned、spatial-shuffle、sequence-shuffle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false-high AUROC均约 .66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真实深度没有明显超过打乱深度</a:t>
            </a:r>
            <a:endParaRPr lang="zh-CN" sz="1150"/>
          </a:p>
        </p:txBody>
      </p:sp>
      <p:sp>
        <p:nvSpPr>
          <p:cNvPr id="33" name="Shape 33"/>
          <p:cNvSpPr/>
          <p:nvPr/>
        </p:nvSpPr>
        <p:spPr>
          <a:xfrm>
            <a:off x="731520" y="5193792"/>
            <a:ext cx="10287000" cy="676656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950976" y="5340096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600" b="1">
                <a:solidFill>
                  <a:srgbClr val="EA580C"/>
                </a:solidFill>
                <a:latin typeface="Microsoft YaHei"/>
                <a:ea typeface="Microsoft YaHei"/>
              </a:rPr>
              <a:t>决策：停止把最终depth map作为early-fusion输入，转而检查teacher内部latent。</a:t>
            </a:r>
            <a:endParaRPr lang="zh-CN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DEPTH · V4–V5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07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最终图失败，但decoder前的中间几何特征出现稳定正信号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658368" y="151790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1">
                <a:solidFill>
                  <a:srgbClr val="5E6B78"/>
                </a:solidFill>
                <a:latin typeface="Microsoft YaHei"/>
                <a:ea typeface="Microsoft YaHei"/>
              </a:rPr>
              <a:t>V4 · Contact-IoU：最终深度图没有增益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58368" y="1847088"/>
            <a:ext cx="1435608" cy="5257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DINO only</a:t>
            </a:r>
            <a:endParaRPr lang="zh-CN" sz="1050"/>
          </a:p>
        </p:txBody>
      </p:sp>
      <p:sp>
        <p:nvSpPr>
          <p:cNvPr id="11" name="Shape 11"/>
          <p:cNvSpPr/>
          <p:nvPr/>
        </p:nvSpPr>
        <p:spPr>
          <a:xfrm>
            <a:off x="2167128" y="1971675"/>
            <a:ext cx="2766060" cy="24003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167128" y="1971675"/>
            <a:ext cx="2444191" cy="24003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006340" y="1837944"/>
            <a:ext cx="681228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0.389</a:t>
            </a:r>
            <a:endParaRPr lang="zh-CN" sz="1050"/>
          </a:p>
        </p:txBody>
      </p:sp>
      <p:sp>
        <p:nvSpPr>
          <p:cNvPr id="14" name="Text 14"/>
          <p:cNvSpPr txBox="1"/>
          <p:nvPr/>
        </p:nvSpPr>
        <p:spPr>
          <a:xfrm>
            <a:off x="658368" y="2418588"/>
            <a:ext cx="1435608" cy="5257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MoGe final</a:t>
            </a:r>
            <a:endParaRPr lang="zh-CN" sz="1050"/>
          </a:p>
        </p:txBody>
      </p:sp>
      <p:sp>
        <p:nvSpPr>
          <p:cNvPr id="15" name="Shape 15"/>
          <p:cNvSpPr/>
          <p:nvPr/>
        </p:nvSpPr>
        <p:spPr>
          <a:xfrm>
            <a:off x="2167128" y="2543175"/>
            <a:ext cx="2766060" cy="24003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167128" y="2543175"/>
            <a:ext cx="2409615" cy="240030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5006340" y="2409444"/>
            <a:ext cx="681228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0F766E"/>
                </a:solidFill>
                <a:latin typeface="Microsoft YaHei"/>
                <a:ea typeface="Microsoft YaHei"/>
              </a:rPr>
              <a:t>0.383</a:t>
            </a:r>
            <a:endParaRPr lang="zh-CN" sz="1050"/>
          </a:p>
        </p:txBody>
      </p:sp>
      <p:sp>
        <p:nvSpPr>
          <p:cNvPr id="18" name="Text 18"/>
          <p:cNvSpPr txBox="1"/>
          <p:nvPr/>
        </p:nvSpPr>
        <p:spPr>
          <a:xfrm>
            <a:off x="658368" y="2990088"/>
            <a:ext cx="1435608" cy="5257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DA2 final</a:t>
            </a:r>
            <a:endParaRPr lang="zh-CN" sz="1050"/>
          </a:p>
        </p:txBody>
      </p:sp>
      <p:sp>
        <p:nvSpPr>
          <p:cNvPr id="19" name="Shape 19"/>
          <p:cNvSpPr/>
          <p:nvPr/>
        </p:nvSpPr>
        <p:spPr>
          <a:xfrm>
            <a:off x="2167128" y="3114675"/>
            <a:ext cx="2766060" cy="24003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2167128" y="3114675"/>
            <a:ext cx="2392642" cy="240030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006340" y="2980944"/>
            <a:ext cx="681228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0F766E"/>
                </a:solidFill>
                <a:latin typeface="Microsoft YaHei"/>
                <a:ea typeface="Microsoft YaHei"/>
              </a:rPr>
              <a:t>0.381</a:t>
            </a:r>
            <a:endParaRPr lang="zh-CN" sz="1050"/>
          </a:p>
        </p:txBody>
      </p:sp>
      <p:sp>
        <p:nvSpPr>
          <p:cNvPr id="22" name="Text 22"/>
          <p:cNvSpPr txBox="1"/>
          <p:nvPr/>
        </p:nvSpPr>
        <p:spPr>
          <a:xfrm>
            <a:off x="658368" y="3561588"/>
            <a:ext cx="1435608" cy="5257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Depth shuffle</a:t>
            </a:r>
            <a:endParaRPr lang="zh-CN" sz="1050"/>
          </a:p>
        </p:txBody>
      </p:sp>
      <p:sp>
        <p:nvSpPr>
          <p:cNvPr id="23" name="Shape 23"/>
          <p:cNvSpPr/>
          <p:nvPr/>
        </p:nvSpPr>
        <p:spPr>
          <a:xfrm>
            <a:off x="2167128" y="3686175"/>
            <a:ext cx="2766060" cy="24003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2167128" y="3686175"/>
            <a:ext cx="2432247" cy="240030"/>
          </a:xfrm>
          <a:prstGeom prst="round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5006340" y="3552444"/>
            <a:ext cx="681228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BE123C"/>
                </a:solidFill>
                <a:latin typeface="Microsoft YaHei"/>
                <a:ea typeface="Microsoft YaHei"/>
              </a:rPr>
              <a:t>0.387</a:t>
            </a:r>
            <a:endParaRPr lang="zh-CN" sz="1050"/>
          </a:p>
        </p:txBody>
      </p:sp>
      <p:sp>
        <p:nvSpPr>
          <p:cNvPr id="26" name="Text 26"/>
          <p:cNvSpPr txBox="1"/>
          <p:nvPr/>
        </p:nvSpPr>
        <p:spPr>
          <a:xfrm>
            <a:off x="6108192" y="1517904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100" b="1">
                <a:solidFill>
                  <a:srgbClr val="5E6B78"/>
                </a:solidFill>
                <a:latin typeface="Microsoft YaHei"/>
                <a:ea typeface="Microsoft YaHei"/>
              </a:rPr>
              <a:t>V5 · Contact-IoU：中间latent转为正增益</a:t>
            </a:r>
            <a:endParaRPr lang="zh-CN" sz="1100"/>
          </a:p>
        </p:txBody>
      </p:sp>
      <p:sp>
        <p:nvSpPr>
          <p:cNvPr id="27" name="Text 27"/>
          <p:cNvSpPr txBox="1"/>
          <p:nvPr/>
        </p:nvSpPr>
        <p:spPr>
          <a:xfrm>
            <a:off x="6108192" y="1847088"/>
            <a:ext cx="1421892" cy="716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DINO only</a:t>
            </a:r>
            <a:endParaRPr lang="zh-CN" sz="1050"/>
          </a:p>
        </p:txBody>
      </p:sp>
      <p:sp>
        <p:nvSpPr>
          <p:cNvPr id="28" name="Shape 28"/>
          <p:cNvSpPr/>
          <p:nvPr/>
        </p:nvSpPr>
        <p:spPr>
          <a:xfrm>
            <a:off x="7603236" y="2019300"/>
            <a:ext cx="2740914" cy="32004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603236" y="2019300"/>
            <a:ext cx="2403477" cy="32004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10417302" y="1837944"/>
            <a:ext cx="674370" cy="7345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0.395</a:t>
            </a:r>
            <a:endParaRPr lang="zh-CN" sz="1050"/>
          </a:p>
        </p:txBody>
      </p:sp>
      <p:sp>
        <p:nvSpPr>
          <p:cNvPr id="31" name="Text 31"/>
          <p:cNvSpPr txBox="1"/>
          <p:nvPr/>
        </p:nvSpPr>
        <p:spPr>
          <a:xfrm>
            <a:off x="6108192" y="2609088"/>
            <a:ext cx="1421892" cy="716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MoGe latent</a:t>
            </a:r>
            <a:endParaRPr lang="zh-CN" sz="1050"/>
          </a:p>
        </p:txBody>
      </p:sp>
      <p:sp>
        <p:nvSpPr>
          <p:cNvPr id="32" name="Shape 32"/>
          <p:cNvSpPr/>
          <p:nvPr/>
        </p:nvSpPr>
        <p:spPr>
          <a:xfrm>
            <a:off x="7603236" y="2781300"/>
            <a:ext cx="2740914" cy="32004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33" name="Shape 33"/>
          <p:cNvSpPr/>
          <p:nvPr/>
        </p:nvSpPr>
        <p:spPr>
          <a:xfrm>
            <a:off x="7603236" y="2781300"/>
            <a:ext cx="2570368" cy="320040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10417302" y="2599944"/>
            <a:ext cx="674370" cy="7345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0F766E"/>
                </a:solidFill>
                <a:latin typeface="Microsoft YaHei"/>
                <a:ea typeface="Microsoft YaHei"/>
              </a:rPr>
              <a:t>0.422</a:t>
            </a:r>
            <a:endParaRPr lang="zh-CN" sz="1050"/>
          </a:p>
        </p:txBody>
      </p:sp>
      <p:sp>
        <p:nvSpPr>
          <p:cNvPr id="35" name="Text 35"/>
          <p:cNvSpPr txBox="1"/>
          <p:nvPr/>
        </p:nvSpPr>
        <p:spPr>
          <a:xfrm>
            <a:off x="6108192" y="3371088"/>
            <a:ext cx="1421892" cy="716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0">
                <a:solidFill>
                  <a:srgbClr val="17212B"/>
                </a:solidFill>
                <a:latin typeface="Microsoft YaHei"/>
                <a:ea typeface="Microsoft YaHei"/>
              </a:rPr>
              <a:t>DA2 latent</a:t>
            </a:r>
            <a:endParaRPr lang="zh-CN" sz="1050"/>
          </a:p>
        </p:txBody>
      </p:sp>
      <p:sp>
        <p:nvSpPr>
          <p:cNvPr id="36" name="Shape 36"/>
          <p:cNvSpPr/>
          <p:nvPr/>
        </p:nvSpPr>
        <p:spPr>
          <a:xfrm>
            <a:off x="7603236" y="3543300"/>
            <a:ext cx="2740914" cy="320040"/>
          </a:xfrm>
          <a:prstGeom prst="roundRect">
            <a:avLst/>
          </a:prstGeom>
          <a:solidFill>
            <a:srgbClr val="E8EDF3"/>
          </a:solidFill>
          <a:ln w="10160">
            <a:solidFill>
              <a:srgbClr val="E8EDF3"/>
            </a:solidFill>
          </a:ln>
        </p:spPr>
      </p:sp>
      <p:sp>
        <p:nvSpPr>
          <p:cNvPr id="37" name="Shape 37"/>
          <p:cNvSpPr/>
          <p:nvPr/>
        </p:nvSpPr>
        <p:spPr>
          <a:xfrm>
            <a:off x="7603236" y="3543300"/>
            <a:ext cx="2592296" cy="320040"/>
          </a:xfrm>
          <a:prstGeom prst="roundRect">
            <a:avLst/>
          </a:prstGeom>
          <a:solidFill>
            <a:srgbClr val="15803D"/>
          </a:solidFill>
          <a:ln w="10160">
            <a:solidFill>
              <a:srgbClr val="15803D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10417302" y="3361944"/>
            <a:ext cx="674370" cy="7345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050" b="1">
                <a:solidFill>
                  <a:srgbClr val="15803D"/>
                </a:solidFill>
                <a:latin typeface="Microsoft YaHei"/>
                <a:ea typeface="Microsoft YaHei"/>
              </a:rPr>
              <a:t>0.426</a:t>
            </a:r>
            <a:endParaRPr lang="zh-CN" sz="1050"/>
          </a:p>
        </p:txBody>
      </p:sp>
      <p:sp>
        <p:nvSpPr>
          <p:cNvPr id="39" name="Shape 39"/>
          <p:cNvSpPr/>
          <p:nvPr/>
        </p:nvSpPr>
        <p:spPr>
          <a:xfrm>
            <a:off x="713232" y="4608576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822960" y="4718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15803D"/>
                </a:solidFill>
                <a:latin typeface="Microsoft YaHei"/>
                <a:ea typeface="Microsoft YaHei"/>
              </a:rPr>
              <a:t>+.031</a:t>
            </a:r>
            <a:endParaRPr lang="zh-CN" sz="2200"/>
          </a:p>
        </p:txBody>
      </p:sp>
      <p:sp>
        <p:nvSpPr>
          <p:cNvPr id="41" name="Text 41"/>
          <p:cNvSpPr txBox="1"/>
          <p:nvPr/>
        </p:nvSpPr>
        <p:spPr>
          <a:xfrm>
            <a:off x="822960" y="5129784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最佳Contact-IoU增益</a:t>
            </a:r>
            <a:endParaRPr lang="zh-CN" sz="950"/>
          </a:p>
        </p:txBody>
      </p:sp>
      <p:sp>
        <p:nvSpPr>
          <p:cNvPr id="42" name="Shape 42"/>
          <p:cNvSpPr/>
          <p:nvPr/>
        </p:nvSpPr>
        <p:spPr>
          <a:xfrm>
            <a:off x="3236976" y="4608576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3346704" y="4718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15803D"/>
                </a:solidFill>
                <a:latin typeface="Microsoft YaHei"/>
                <a:ea typeface="Microsoft YaHei"/>
              </a:rPr>
              <a:t>+.024</a:t>
            </a:r>
            <a:endParaRPr lang="zh-CN" sz="2200"/>
          </a:p>
        </p:txBody>
      </p:sp>
      <p:sp>
        <p:nvSpPr>
          <p:cNvPr id="44" name="Text 44"/>
          <p:cNvSpPr txBox="1"/>
          <p:nvPr/>
        </p:nvSpPr>
        <p:spPr>
          <a:xfrm>
            <a:off x="3346704" y="5129784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最佳CoreLoc增益</a:t>
            </a:r>
            <a:endParaRPr lang="zh-CN" sz="950"/>
          </a:p>
        </p:txBody>
      </p:sp>
      <p:sp>
        <p:nvSpPr>
          <p:cNvPr id="45" name="Shape 45"/>
          <p:cNvSpPr/>
          <p:nvPr/>
        </p:nvSpPr>
        <p:spPr>
          <a:xfrm>
            <a:off x="5760720" y="4608576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5870448" y="4718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200" b="1">
                <a:solidFill>
                  <a:srgbClr val="15803D"/>
                </a:solidFill>
                <a:latin typeface="Microsoft YaHei"/>
                <a:ea typeface="Microsoft YaHei"/>
              </a:rPr>
              <a:t>+.023</a:t>
            </a:r>
            <a:endParaRPr lang="zh-CN" sz="2200"/>
          </a:p>
        </p:txBody>
      </p:sp>
      <p:sp>
        <p:nvSpPr>
          <p:cNvPr id="47" name="Text 47"/>
          <p:cNvSpPr txBox="1"/>
          <p:nvPr/>
        </p:nvSpPr>
        <p:spPr>
          <a:xfrm>
            <a:off x="5870448" y="5129784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950" b="0">
                <a:solidFill>
                  <a:srgbClr val="5E6B78"/>
                </a:solidFill>
                <a:latin typeface="Microsoft YaHei"/>
                <a:ea typeface="Microsoft YaHei"/>
              </a:rPr>
              <a:t>最佳Distribution V-IoU增益</a:t>
            </a:r>
            <a:endParaRPr lang="zh-CN" sz="950"/>
          </a:p>
        </p:txBody>
      </p:sp>
      <p:sp>
        <p:nvSpPr>
          <p:cNvPr id="48" name="Shape 48"/>
          <p:cNvSpPr/>
          <p:nvPr/>
        </p:nvSpPr>
        <p:spPr>
          <a:xfrm>
            <a:off x="8302752" y="4517136"/>
            <a:ext cx="2807208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9" name="Shape 49"/>
          <p:cNvSpPr/>
          <p:nvPr/>
        </p:nvSpPr>
        <p:spPr>
          <a:xfrm>
            <a:off x="8302752" y="4517136"/>
            <a:ext cx="73152" cy="1463040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8503920" y="4654296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需要谨慎</a:t>
            </a:r>
            <a:endParaRPr lang="zh-CN" sz="1500"/>
          </a:p>
        </p:txBody>
      </p:sp>
      <p:sp>
        <p:nvSpPr>
          <p:cNvPr id="51" name="Text 51"/>
          <p:cNvSpPr txBox="1"/>
          <p:nvPr/>
        </p:nvSpPr>
        <p:spPr>
          <a:xfrm>
            <a:off x="8485632" y="5038344"/>
            <a:ext cx="2487168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当前是低容量probe，不是全模型结果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必须做aligned-vs-shuffle正式对照</a:t>
            </a:r>
            <a:endParaRPr lang="zh-CN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EVIDENCE MATRIX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08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两条先验路线目前分别走到了哪里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658368" y="1664208"/>
            <a:ext cx="3154680" cy="530352"/>
          </a:xfrm>
          <a:prstGeom prst="rect">
            <a:avLst/>
          </a:prstGeom>
          <a:solidFill>
            <a:srgbClr val="17212B"/>
          </a:solidFill>
          <a:ln w="10160">
            <a:solidFill>
              <a:srgbClr val="17212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13232" y="1746504"/>
            <a:ext cx="30449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要回答的问题</a:t>
            </a:r>
            <a:endParaRPr lang="zh-CN" sz="1200"/>
          </a:p>
        </p:txBody>
      </p:sp>
      <p:sp>
        <p:nvSpPr>
          <p:cNvPr id="11" name="Shape 11"/>
          <p:cNvSpPr/>
          <p:nvPr/>
        </p:nvSpPr>
        <p:spPr>
          <a:xfrm>
            <a:off x="4023360" y="1664208"/>
            <a:ext cx="228600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078224" y="1746504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VLM</a:t>
            </a:r>
            <a:endParaRPr lang="zh-CN" sz="1200"/>
          </a:p>
        </p:txBody>
      </p:sp>
      <p:sp>
        <p:nvSpPr>
          <p:cNvPr id="13" name="Shape 13"/>
          <p:cNvSpPr/>
          <p:nvPr/>
        </p:nvSpPr>
        <p:spPr>
          <a:xfrm>
            <a:off x="6519672" y="1664208"/>
            <a:ext cx="2286000" cy="53035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574536" y="1746504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Depth final map</a:t>
            </a:r>
            <a:endParaRPr lang="zh-CN" sz="1200"/>
          </a:p>
        </p:txBody>
      </p:sp>
      <p:sp>
        <p:nvSpPr>
          <p:cNvPr id="15" name="Shape 15"/>
          <p:cNvSpPr/>
          <p:nvPr/>
        </p:nvSpPr>
        <p:spPr>
          <a:xfrm>
            <a:off x="9015984" y="1664208"/>
            <a:ext cx="2286000" cy="53035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070848" y="1746504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Depth latent</a:t>
            </a:r>
            <a:endParaRPr lang="zh-CN" sz="1200"/>
          </a:p>
        </p:txBody>
      </p:sp>
      <p:sp>
        <p:nvSpPr>
          <p:cNvPr id="17" name="Shape 17"/>
          <p:cNvSpPr/>
          <p:nvPr/>
        </p:nvSpPr>
        <p:spPr>
          <a:xfrm>
            <a:off x="658368" y="219456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31520" y="228600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连续magnitude</a:t>
            </a:r>
            <a:endParaRPr lang="zh-CN" sz="1150"/>
          </a:p>
        </p:txBody>
      </p:sp>
      <p:sp>
        <p:nvSpPr>
          <p:cNvPr id="19" name="Shape 19"/>
          <p:cNvSpPr/>
          <p:nvPr/>
        </p:nvSpPr>
        <p:spPr>
          <a:xfrm>
            <a:off x="4023360" y="2194560"/>
            <a:ext cx="2286000" cy="594360"/>
          </a:xfrm>
          <a:prstGeom prst="rect">
            <a:avLst/>
          </a:prstGeom>
          <a:solidFill>
            <a:srgbClr val="FFEDD5"/>
          </a:solidFill>
          <a:ln w="10160">
            <a:solidFill>
              <a:srgbClr val="D7DEE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4096512" y="22860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弱</a:t>
            </a:r>
            <a:endParaRPr lang="zh-CN" sz="1150"/>
          </a:p>
        </p:txBody>
      </p:sp>
      <p:sp>
        <p:nvSpPr>
          <p:cNvPr id="21" name="Shape 21"/>
          <p:cNvSpPr/>
          <p:nvPr/>
        </p:nvSpPr>
        <p:spPr>
          <a:xfrm>
            <a:off x="6519672" y="219456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592824" y="22860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失败</a:t>
            </a:r>
            <a:endParaRPr lang="zh-CN" sz="1150"/>
          </a:p>
        </p:txBody>
      </p:sp>
      <p:sp>
        <p:nvSpPr>
          <p:cNvPr id="23" name="Shape 23"/>
          <p:cNvSpPr/>
          <p:nvPr/>
        </p:nvSpPr>
        <p:spPr>
          <a:xfrm>
            <a:off x="9015984" y="2194560"/>
            <a:ext cx="2286000" cy="594360"/>
          </a:xfrm>
          <a:prstGeom prst="rect">
            <a:avLst/>
          </a:prstGeom>
          <a:solidFill>
            <a:srgbClr val="DCFCE7"/>
          </a:solidFill>
          <a:ln w="10160">
            <a:solidFill>
              <a:srgbClr val="D7DEE8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9089136" y="22860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小幅正信号</a:t>
            </a:r>
            <a:endParaRPr lang="zh-CN" sz="1150"/>
          </a:p>
        </p:txBody>
      </p:sp>
      <p:sp>
        <p:nvSpPr>
          <p:cNvPr id="25" name="Shape 25"/>
          <p:cNvSpPr/>
          <p:nvPr/>
        </p:nvSpPr>
        <p:spPr>
          <a:xfrm>
            <a:off x="658368" y="278892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288036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粗粒度contact state</a:t>
            </a:r>
            <a:endParaRPr lang="zh-CN" sz="1150"/>
          </a:p>
        </p:txBody>
      </p:sp>
      <p:sp>
        <p:nvSpPr>
          <p:cNvPr id="27" name="Shape 27"/>
          <p:cNvSpPr/>
          <p:nvPr/>
        </p:nvSpPr>
        <p:spPr>
          <a:xfrm>
            <a:off x="4023360" y="2788920"/>
            <a:ext cx="2286000" cy="594360"/>
          </a:xfrm>
          <a:prstGeom prst="rect">
            <a:avLst/>
          </a:prstGeom>
          <a:solidFill>
            <a:srgbClr val="FFEDD5"/>
          </a:solidFill>
          <a:ln w="10160">
            <a:solidFill>
              <a:srgbClr val="D7DEE8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096512" y="288036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弱正信号</a:t>
            </a:r>
            <a:endParaRPr lang="zh-CN" sz="1150"/>
          </a:p>
        </p:txBody>
      </p:sp>
      <p:sp>
        <p:nvSpPr>
          <p:cNvPr id="29" name="Shape 29"/>
          <p:cNvSpPr/>
          <p:nvPr/>
        </p:nvSpPr>
        <p:spPr>
          <a:xfrm>
            <a:off x="6519672" y="2788920"/>
            <a:ext cx="2286000" cy="594360"/>
          </a:xfrm>
          <a:prstGeom prst="rect">
            <a:avLst/>
          </a:prstGeom>
          <a:solidFill>
            <a:srgbClr val="DCFCE7"/>
          </a:solidFill>
          <a:ln w="10160">
            <a:solidFill>
              <a:srgbClr val="D7DEE8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6592824" y="288036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较强</a:t>
            </a:r>
            <a:endParaRPr lang="zh-CN" sz="1150"/>
          </a:p>
        </p:txBody>
      </p:sp>
      <p:sp>
        <p:nvSpPr>
          <p:cNvPr id="31" name="Shape 31"/>
          <p:cNvSpPr/>
          <p:nvPr/>
        </p:nvSpPr>
        <p:spPr>
          <a:xfrm>
            <a:off x="9015984" y="2788920"/>
            <a:ext cx="2286000" cy="594360"/>
          </a:xfrm>
          <a:prstGeom prst="rect">
            <a:avLst/>
          </a:prstGeom>
          <a:solidFill>
            <a:srgbClr val="DCFCE7"/>
          </a:solidFill>
          <a:ln w="10160">
            <a:solidFill>
              <a:srgbClr val="D7DEE8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9089136" y="288036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较强</a:t>
            </a:r>
            <a:endParaRPr lang="zh-CN" sz="1150"/>
          </a:p>
        </p:txBody>
      </p:sp>
      <p:sp>
        <p:nvSpPr>
          <p:cNvPr id="33" name="Shape 33"/>
          <p:cNvSpPr/>
          <p:nvPr/>
        </p:nvSpPr>
        <p:spPr>
          <a:xfrm>
            <a:off x="658368" y="338328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31520" y="347472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空间location</a:t>
            </a:r>
            <a:endParaRPr lang="zh-CN" sz="1150"/>
          </a:p>
        </p:txBody>
      </p:sp>
      <p:sp>
        <p:nvSpPr>
          <p:cNvPr id="35" name="Shape 35"/>
          <p:cNvSpPr/>
          <p:nvPr/>
        </p:nvSpPr>
        <p:spPr>
          <a:xfrm>
            <a:off x="4023360" y="3383280"/>
            <a:ext cx="2286000" cy="594360"/>
          </a:xfrm>
          <a:prstGeom prst="rect">
            <a:avLst/>
          </a:prstGeom>
          <a:solidFill>
            <a:srgbClr val="FFEDD5"/>
          </a:solidFill>
          <a:ln w="10160">
            <a:solidFill>
              <a:srgbClr val="D7DEE8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4096512" y="347472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未证明</a:t>
            </a:r>
            <a:endParaRPr lang="zh-CN" sz="1150"/>
          </a:p>
        </p:txBody>
      </p:sp>
      <p:sp>
        <p:nvSpPr>
          <p:cNvPr id="37" name="Shape 37"/>
          <p:cNvSpPr/>
          <p:nvPr/>
        </p:nvSpPr>
        <p:spPr>
          <a:xfrm>
            <a:off x="6519672" y="338328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6592824" y="347472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失败</a:t>
            </a:r>
            <a:endParaRPr lang="zh-CN" sz="1150"/>
          </a:p>
        </p:txBody>
      </p:sp>
      <p:sp>
        <p:nvSpPr>
          <p:cNvPr id="39" name="Shape 39"/>
          <p:cNvSpPr/>
          <p:nvPr/>
        </p:nvSpPr>
        <p:spPr>
          <a:xfrm>
            <a:off x="9015984" y="3383280"/>
            <a:ext cx="2286000" cy="594360"/>
          </a:xfrm>
          <a:prstGeom prst="rect">
            <a:avLst/>
          </a:prstGeom>
          <a:solidFill>
            <a:srgbClr val="DCFCE7"/>
          </a:solidFill>
          <a:ln w="10160">
            <a:solidFill>
              <a:srgbClr val="D7DEE8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9089136" y="347472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有希望</a:t>
            </a:r>
            <a:endParaRPr lang="zh-CN" sz="1150"/>
          </a:p>
        </p:txBody>
      </p:sp>
      <p:sp>
        <p:nvSpPr>
          <p:cNvPr id="41" name="Shape 41"/>
          <p:cNvSpPr/>
          <p:nvPr/>
        </p:nvSpPr>
        <p:spPr>
          <a:xfrm>
            <a:off x="658368" y="397764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31520" y="406908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Query grounding</a:t>
            </a:r>
            <a:endParaRPr lang="zh-CN" sz="1150"/>
          </a:p>
        </p:txBody>
      </p:sp>
      <p:sp>
        <p:nvSpPr>
          <p:cNvPr id="43" name="Shape 43"/>
          <p:cNvSpPr/>
          <p:nvPr/>
        </p:nvSpPr>
        <p:spPr>
          <a:xfrm>
            <a:off x="4023360" y="397764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4096512" y="406908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失败</a:t>
            </a:r>
            <a:endParaRPr lang="zh-CN" sz="1150"/>
          </a:p>
        </p:txBody>
      </p:sp>
      <p:sp>
        <p:nvSpPr>
          <p:cNvPr id="45" name="Shape 45"/>
          <p:cNvSpPr/>
          <p:nvPr/>
        </p:nvSpPr>
        <p:spPr>
          <a:xfrm>
            <a:off x="6519672" y="3977640"/>
            <a:ext cx="2286000" cy="594360"/>
          </a:xfrm>
          <a:prstGeom prst="rect">
            <a:avLst/>
          </a:prstGeom>
          <a:solidFill>
            <a:srgbClr val="EEF1F5"/>
          </a:solidFill>
          <a:ln w="10160">
            <a:solidFill>
              <a:srgbClr val="D7DEE8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6592824" y="406908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不适用</a:t>
            </a:r>
            <a:endParaRPr lang="zh-CN" sz="1150"/>
          </a:p>
        </p:txBody>
      </p:sp>
      <p:sp>
        <p:nvSpPr>
          <p:cNvPr id="47" name="Shape 47"/>
          <p:cNvSpPr/>
          <p:nvPr/>
        </p:nvSpPr>
        <p:spPr>
          <a:xfrm>
            <a:off x="9015984" y="3977640"/>
            <a:ext cx="2286000" cy="594360"/>
          </a:xfrm>
          <a:prstGeom prst="rect">
            <a:avLst/>
          </a:prstGeom>
          <a:solidFill>
            <a:srgbClr val="DBEAFE"/>
          </a:solidFill>
          <a:ln w="10160">
            <a:solidFill>
              <a:srgbClr val="D7DEE8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9089136" y="406908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待正式验证</a:t>
            </a:r>
            <a:endParaRPr lang="zh-CN" sz="1150"/>
          </a:p>
        </p:txBody>
      </p:sp>
      <p:sp>
        <p:nvSpPr>
          <p:cNvPr id="49" name="Shape 49"/>
          <p:cNvSpPr/>
          <p:nvPr/>
        </p:nvSpPr>
        <p:spPr>
          <a:xfrm>
            <a:off x="658368" y="457200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731520" y="466344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Shuffle后应失效</a:t>
            </a:r>
            <a:endParaRPr lang="zh-CN" sz="1150"/>
          </a:p>
        </p:txBody>
      </p:sp>
      <p:sp>
        <p:nvSpPr>
          <p:cNvPr id="51" name="Shape 51"/>
          <p:cNvSpPr/>
          <p:nvPr/>
        </p:nvSpPr>
        <p:spPr>
          <a:xfrm>
            <a:off x="4023360" y="457200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4096512" y="466344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未满足</a:t>
            </a:r>
            <a:endParaRPr lang="zh-CN" sz="1150"/>
          </a:p>
        </p:txBody>
      </p:sp>
      <p:sp>
        <p:nvSpPr>
          <p:cNvPr id="53" name="Shape 53"/>
          <p:cNvSpPr/>
          <p:nvPr/>
        </p:nvSpPr>
        <p:spPr>
          <a:xfrm>
            <a:off x="6519672" y="457200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6592824" y="466344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未满足</a:t>
            </a:r>
            <a:endParaRPr lang="zh-CN" sz="1150"/>
          </a:p>
        </p:txBody>
      </p:sp>
      <p:sp>
        <p:nvSpPr>
          <p:cNvPr id="55" name="Shape 55"/>
          <p:cNvSpPr/>
          <p:nvPr/>
        </p:nvSpPr>
        <p:spPr>
          <a:xfrm>
            <a:off x="9015984" y="4572000"/>
            <a:ext cx="2286000" cy="594360"/>
          </a:xfrm>
          <a:prstGeom prst="rect">
            <a:avLst/>
          </a:prstGeom>
          <a:solidFill>
            <a:srgbClr val="DBEAFE"/>
          </a:solidFill>
          <a:ln w="10160">
            <a:solidFill>
              <a:srgbClr val="D7DEE8"/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9089136" y="466344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部分满足</a:t>
            </a:r>
            <a:endParaRPr lang="zh-CN" sz="1150"/>
          </a:p>
        </p:txBody>
      </p:sp>
      <p:sp>
        <p:nvSpPr>
          <p:cNvPr id="57" name="Shape 57"/>
          <p:cNvSpPr/>
          <p:nvPr/>
        </p:nvSpPr>
        <p:spPr>
          <a:xfrm>
            <a:off x="658368" y="5166360"/>
            <a:ext cx="31546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58" name="Text 58"/>
          <p:cNvSpPr txBox="1"/>
          <p:nvPr/>
        </p:nvSpPr>
        <p:spPr>
          <a:xfrm>
            <a:off x="731520" y="5257800"/>
            <a:ext cx="300837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1">
                <a:solidFill>
                  <a:srgbClr val="17212B"/>
                </a:solidFill>
                <a:latin typeface="Microsoft YaHei"/>
                <a:ea typeface="Microsoft YaHei"/>
              </a:rPr>
              <a:t>进入全量训练</a:t>
            </a:r>
            <a:endParaRPr lang="zh-CN" sz="1150"/>
          </a:p>
        </p:txBody>
      </p:sp>
      <p:sp>
        <p:nvSpPr>
          <p:cNvPr id="59" name="Shape 59"/>
          <p:cNvSpPr/>
          <p:nvPr/>
        </p:nvSpPr>
        <p:spPr>
          <a:xfrm>
            <a:off x="4023360" y="5166360"/>
            <a:ext cx="2286000" cy="594360"/>
          </a:xfrm>
          <a:prstGeom prst="rect">
            <a:avLst/>
          </a:prstGeom>
          <a:solidFill>
            <a:srgbClr val="FFEDD5"/>
          </a:solidFill>
          <a:ln w="10160">
            <a:solidFill>
              <a:srgbClr val="D7DEE8"/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4096512" y="52578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暂缓</a:t>
            </a:r>
            <a:endParaRPr lang="zh-CN" sz="1150"/>
          </a:p>
        </p:txBody>
      </p:sp>
      <p:sp>
        <p:nvSpPr>
          <p:cNvPr id="61" name="Shape 61"/>
          <p:cNvSpPr/>
          <p:nvPr/>
        </p:nvSpPr>
        <p:spPr>
          <a:xfrm>
            <a:off x="6519672" y="5166360"/>
            <a:ext cx="2286000" cy="594360"/>
          </a:xfrm>
          <a:prstGeom prst="rect">
            <a:avLst/>
          </a:prstGeom>
          <a:solidFill>
            <a:srgbClr val="FFE4E6"/>
          </a:solidFill>
          <a:ln w="10160">
            <a:solidFill>
              <a:srgbClr val="D7DEE8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592824" y="52578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停止</a:t>
            </a:r>
            <a:endParaRPr lang="zh-CN" sz="1150"/>
          </a:p>
        </p:txBody>
      </p:sp>
      <p:sp>
        <p:nvSpPr>
          <p:cNvPr id="63" name="Shape 63"/>
          <p:cNvSpPr/>
          <p:nvPr/>
        </p:nvSpPr>
        <p:spPr>
          <a:xfrm>
            <a:off x="9015984" y="5166360"/>
            <a:ext cx="2286000" cy="594360"/>
          </a:xfrm>
          <a:prstGeom prst="rect">
            <a:avLst/>
          </a:prstGeom>
          <a:solidFill>
            <a:srgbClr val="DCFCE7"/>
          </a:solidFill>
          <a:ln w="10160">
            <a:solidFill>
              <a:srgbClr val="D7DEE8"/>
            </a:solidFill>
          </a:ln>
        </p:spPr>
      </p:sp>
      <p:sp>
        <p:nvSpPr>
          <p:cNvPr id="64" name="Text 64"/>
          <p:cNvSpPr txBox="1"/>
          <p:nvPr/>
        </p:nvSpPr>
        <p:spPr>
          <a:xfrm>
            <a:off x="9089136" y="5257800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1150" b="0">
                <a:solidFill>
                  <a:srgbClr val="17212B"/>
                </a:solidFill>
                <a:latin typeface="Microsoft YaHei"/>
                <a:ea typeface="Microsoft YaHei"/>
              </a:rPr>
              <a:t>下一优先级</a:t>
            </a:r>
            <a:endParaRPr lang="zh-CN" sz="1150"/>
          </a:p>
        </p:txBody>
      </p:sp>
      <p:sp>
        <p:nvSpPr>
          <p:cNvPr id="65" name="Shape 65"/>
          <p:cNvSpPr/>
          <p:nvPr/>
        </p:nvSpPr>
        <p:spPr>
          <a:xfrm>
            <a:off x="676656" y="5925312"/>
            <a:ext cx="10625328" cy="393192"/>
          </a:xfrm>
          <a:prstGeom prst="roundRect">
            <a:avLst/>
          </a:prstGeom>
          <a:solidFill>
            <a:srgbClr val="E9F8F3"/>
          </a:solidFill>
          <a:ln w="10160">
            <a:solidFill>
              <a:srgbClr val="B9E3D5"/>
            </a:solidFill>
          </a:ln>
        </p:spPr>
      </p:sp>
      <p:sp>
        <p:nvSpPr>
          <p:cNvPr id="66" name="Text 66"/>
          <p:cNvSpPr txBox="1"/>
          <p:nvPr/>
        </p:nvSpPr>
        <p:spPr>
          <a:xfrm>
            <a:off x="877824" y="5989320"/>
            <a:ext cx="101681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</a:rPr>
              <a:t>当前最强证据：Depth teacher的中间latent包含最终depth map丢失的接触位置线索。</a:t>
            </a:r>
            <a:endParaRPr lang="zh-CN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NEXT EXPERIMENT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09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下一轮：一个正式Depth因果实验 + 一次最终VLM榨取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658368" y="1627632"/>
            <a:ext cx="5230368" cy="3511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58368" y="1627632"/>
            <a:ext cx="73152" cy="3511296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59536" y="1764792"/>
            <a:ext cx="4910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Server A · Depth aligned</a:t>
            </a:r>
            <a:endParaRPr lang="zh-CN" sz="1500"/>
          </a:p>
        </p:txBody>
      </p:sp>
      <p:sp>
        <p:nvSpPr>
          <p:cNvPr id="12" name="Text 12"/>
          <p:cNvSpPr txBox="1"/>
          <p:nvPr/>
        </p:nvSpPr>
        <p:spPr>
          <a:xfrm>
            <a:off x="841248" y="2148840"/>
            <a:ext cx="4910328" cy="287121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离线缓存MoGe/DA2 latent或point+normal sidecar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冻结DINO + FullGrid tactile base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只训练zero-init、bounded downward contact adapter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目标：减少掌部误接触，优先Contact/CoreLoc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记录fused-minus-base与区域抑制量</a:t>
            </a:r>
            <a:endParaRPr lang="zh-CN" sz="1150"/>
          </a:p>
        </p:txBody>
      </p:sp>
      <p:sp>
        <p:nvSpPr>
          <p:cNvPr id="13" name="Shape 13"/>
          <p:cNvSpPr/>
          <p:nvPr/>
        </p:nvSpPr>
        <p:spPr>
          <a:xfrm>
            <a:off x="6236208" y="1627632"/>
            <a:ext cx="5230368" cy="3511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236208" y="1627632"/>
            <a:ext cx="73152" cy="3511296"/>
          </a:xfrm>
          <a:prstGeom prst="rect">
            <a:avLst/>
          </a:prstGeom>
          <a:solidFill>
            <a:srgbClr val="BE123C"/>
          </a:solidFill>
          <a:ln w="10160">
            <a:solidFill>
              <a:srgbClr val="BE123C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437376" y="1764792"/>
            <a:ext cx="4910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17212B"/>
                </a:solidFill>
                <a:latin typeface="Microsoft YaHei"/>
                <a:ea typeface="Microsoft YaHei"/>
              </a:rPr>
              <a:t>Server B · Depth shuffle control</a:t>
            </a:r>
            <a:endParaRPr lang="zh-CN" sz="1500"/>
          </a:p>
        </p:txBody>
      </p:sp>
      <p:sp>
        <p:nvSpPr>
          <p:cNvPr id="16" name="Text 16"/>
          <p:cNvSpPr txBox="1"/>
          <p:nvPr/>
        </p:nvSpPr>
        <p:spPr>
          <a:xfrm>
            <a:off x="6419088" y="2148840"/>
            <a:ext cx="4910328" cy="287121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与Server A参数量、初始化和训练步数完全一致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空间打乱或sample-level错配depth latent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若aligned不能稳定超过shuffle，不宣称几何增益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通过后再做5–10 epoch低LR联合微调</a:t>
            </a:r>
            <a:endParaRPr lang="zh-CN" sz="1150"/>
          </a:p>
          <a:p>
            <a:pPr algn="l" marL="260000" indent="-180000">
              <a:buChar char="•"/>
            </a:pPr>
            <a:r>
              <a:rPr lang="zh-CN" sz="1150" b="0">
                <a:solidFill>
                  <a:srgbClr val="5E6B78"/>
                </a:solidFill>
                <a:latin typeface="Microsoft YaHei"/>
                <a:ea typeface="Microsoft YaHei"/>
              </a:rPr>
              <a:t>初轮不从头联合训练，避免base/adapter相互补偿</a:t>
            </a:r>
            <a:endParaRPr lang="zh-CN" sz="1150"/>
          </a:p>
        </p:txBody>
      </p:sp>
      <p:sp>
        <p:nvSpPr>
          <p:cNvPr id="17" name="Shape 17"/>
          <p:cNvSpPr/>
          <p:nvPr/>
        </p:nvSpPr>
        <p:spPr>
          <a:xfrm>
            <a:off x="676656" y="5413248"/>
            <a:ext cx="2423160" cy="31089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676656" y="542239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并行离线：VLM query-pair</a:t>
            </a:r>
            <a:endParaRPr lang="zh-CN" sz="900"/>
          </a:p>
        </p:txBody>
      </p:sp>
      <p:sp>
        <p:nvSpPr>
          <p:cNvPr id="19" name="Text 19"/>
          <p:cNvSpPr txBox="1"/>
          <p:nvPr/>
        </p:nvSpPr>
        <p:spPr>
          <a:xfrm>
            <a:off x="3273552" y="5358384"/>
            <a:ext cx="7818120" cy="6126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300" b="1">
                <a:solidFill>
                  <a:srgbClr val="17212B"/>
                </a:solidFill>
                <a:latin typeface="Microsoft YaHei"/>
                <a:ea typeface="Microsoft YaHei"/>
              </a:rPr>
              <a:t>同帧标签相反query + Qwen闭集概率 + SigLIP/DINO对照；只有correct显著超过wrong/shuffle，才进入Scale-only FiLM。</a:t>
            </a:r>
            <a:endParaRPr lang="zh-CN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0160">
            <a:solidFill>
              <a:srgbClr val="F5F7FA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TAKEAWAYS</a:t>
            </a:r>
            <a:endParaRPr lang="zh-CN" sz="1000"/>
          </a:p>
        </p:txBody>
      </p:sp>
      <p:sp>
        <p:nvSpPr>
          <p:cNvPr id="5" name="Text 5"/>
          <p:cNvSpPr txBox="1"/>
          <p:nvPr/>
        </p:nvSpPr>
        <p:spPr>
          <a:xfrm>
            <a:off x="11109960" y="2011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r" marL="0" indent="0">
              <a:buNone/>
            </a:pPr>
            <a:r>
              <a:rPr lang="zh-CN" sz="1000" b="1">
                <a:solidFill>
                  <a:srgbClr val="5E6B78"/>
                </a:solidFill>
                <a:latin typeface="Microsoft YaHei"/>
                <a:ea typeface="Microsoft YaHei"/>
              </a:rPr>
              <a:t>10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502920" y="56692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2700" b="1">
                <a:solidFill>
                  <a:srgbClr val="17212B"/>
                </a:solidFill>
                <a:latin typeface="Microsoft YaHei"/>
                <a:ea typeface="Microsoft YaHei"/>
              </a:rPr>
              <a:t>PPT可直接使用的三句话结论</a:t>
            </a:r>
            <a:endParaRPr lang="zh-CN" sz="2700"/>
          </a:p>
        </p:txBody>
      </p:sp>
      <p:cxnSp>
        <p:nvCxnSpPr>
          <p:cNvPr id="7" name="Line 7"/>
          <p:cNvCxnSpPr/>
          <p:nvPr/>
        </p:nvCxnSpPr>
        <p:spPr>
          <a:xfrm>
            <a:off x="502920" y="6565392"/>
            <a:ext cx="10634472" cy="0"/>
          </a:xfrm>
          <a:prstGeom prst="line">
            <a:avLst/>
          </a:prstGeom>
          <a:ln w="10160">
            <a:solidFill>
              <a:srgbClr val="D7DEE8"/>
            </a:solidFill>
            <a:headEnd type="none"/>
            <a:tailEnd type="none"/>
          </a:ln>
        </p:spPr>
      </p:cxnSp>
      <p:sp>
        <p:nvSpPr>
          <p:cNvPr id="8" name="Text 8"/>
          <p:cNvSpPr txBox="1"/>
          <p:nvPr/>
        </p:nvSpPr>
        <p:spPr>
          <a:xfrm>
            <a:off x="521208" y="6583680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750" b="0">
                <a:solidFill>
                  <a:srgbClr val="8793A1"/>
                </a:solidFill>
                <a:latin typeface="Microsoft YaHei"/>
                <a:ea typeface="Microsoft YaHei"/>
              </a:rPr>
              <a:t>Full-Hand Tactile Estimation · Probe evidence</a:t>
            </a:r>
            <a:endParaRPr lang="zh-CN" sz="750"/>
          </a:p>
        </p:txBody>
      </p:sp>
      <p:sp>
        <p:nvSpPr>
          <p:cNvPr id="9" name="Shape 9"/>
          <p:cNvSpPr/>
          <p:nvPr/>
        </p:nvSpPr>
        <p:spPr>
          <a:xfrm>
            <a:off x="749808" y="1737360"/>
            <a:ext cx="10561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49808" y="1737360"/>
            <a:ext cx="941832" cy="112471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58952" y="1965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lang="zh-CN" sz="2100"/>
          </a:p>
        </p:txBody>
      </p:sp>
      <p:sp>
        <p:nvSpPr>
          <p:cNvPr id="12" name="Text 12"/>
          <p:cNvSpPr txBox="1"/>
          <p:nvPr/>
        </p:nvSpPr>
        <p:spPr>
          <a:xfrm>
            <a:off x="1938528" y="18928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VLM</a:t>
            </a:r>
            <a:endParaRPr lang="zh-CN" sz="1500"/>
          </a:p>
        </p:txBody>
      </p:sp>
      <p:sp>
        <p:nvSpPr>
          <p:cNvPr id="13" name="Text 13"/>
          <p:cNvSpPr txBox="1"/>
          <p:nvPr/>
        </p:nvSpPr>
        <p:spPr>
          <a:xfrm>
            <a:off x="3127248" y="1865376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400" b="1">
                <a:solidFill>
                  <a:srgbClr val="17212B"/>
                </a:solidFill>
                <a:latin typeface="Microsoft YaHei"/>
                <a:ea typeface="Microsoft YaHei"/>
              </a:rPr>
              <a:t>能识别场景和粗接触状态，但wrong/shuffle仍然很强；目前没有证明query-specific修正能力。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749808" y="3108960"/>
            <a:ext cx="10561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749808" y="3108960"/>
            <a:ext cx="941832" cy="112471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58952" y="33375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lang="zh-CN" sz="2100"/>
          </a:p>
        </p:txBody>
      </p:sp>
      <p:sp>
        <p:nvSpPr>
          <p:cNvPr id="17" name="Text 17"/>
          <p:cNvSpPr txBox="1"/>
          <p:nvPr/>
        </p:nvSpPr>
        <p:spPr>
          <a:xfrm>
            <a:off x="1938528" y="32644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0F766E"/>
                </a:solidFill>
                <a:latin typeface="Microsoft YaHei"/>
                <a:ea typeface="Microsoft YaHei"/>
              </a:rPr>
              <a:t>Depth</a:t>
            </a:r>
            <a:endParaRPr lang="zh-CN" sz="1500"/>
          </a:p>
        </p:txBody>
      </p:sp>
      <p:sp>
        <p:nvSpPr>
          <p:cNvPr id="18" name="Text 18"/>
          <p:cNvSpPr txBox="1"/>
          <p:nvPr/>
        </p:nvSpPr>
        <p:spPr>
          <a:xfrm>
            <a:off x="3127248" y="3236976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400" b="1">
                <a:solidFill>
                  <a:srgbClr val="17212B"/>
                </a:solidFill>
                <a:latin typeface="Microsoft YaHei"/>
                <a:ea typeface="Microsoft YaHei"/>
              </a:rPr>
              <a:t>最终深度图没有帮助；teacher内部latent却稳定改善Contact/CoreLoc，是当前最值得进入全量对照的先验。</a:t>
            </a:r>
            <a:endParaRPr lang="zh-CN" sz="1400"/>
          </a:p>
        </p:txBody>
      </p:sp>
      <p:sp>
        <p:nvSpPr>
          <p:cNvPr id="19" name="Shape 19"/>
          <p:cNvSpPr/>
          <p:nvPr/>
        </p:nvSpPr>
        <p:spPr>
          <a:xfrm>
            <a:off x="749808" y="4480560"/>
            <a:ext cx="10561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</p:sp>
      <p:sp>
        <p:nvSpPr>
          <p:cNvPr id="20" name="Shape 20"/>
          <p:cNvSpPr/>
          <p:nvPr/>
        </p:nvSpPr>
        <p:spPr>
          <a:xfrm>
            <a:off x="749808" y="4480560"/>
            <a:ext cx="941832" cy="1124712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58952" y="4709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ctr" marL="0" indent="0">
              <a:buNone/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 lang="zh-CN" sz="2100"/>
          </a:p>
        </p:txBody>
      </p:sp>
      <p:sp>
        <p:nvSpPr>
          <p:cNvPr id="22" name="Text 22"/>
          <p:cNvSpPr txBox="1"/>
          <p:nvPr/>
        </p:nvSpPr>
        <p:spPr>
          <a:xfrm>
            <a:off x="1938528" y="463600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l" marL="0" indent="0">
              <a:buNone/>
            </a:pPr>
            <a:r>
              <a:rPr lang="zh-CN" sz="1500" b="1">
                <a:solidFill>
                  <a:srgbClr val="EA580C"/>
                </a:solidFill>
                <a:latin typeface="Microsoft YaHei"/>
                <a:ea typeface="Microsoft YaHei"/>
              </a:rPr>
              <a:t>方法论</a:t>
            </a:r>
            <a:endParaRPr lang="zh-CN" sz="1500"/>
          </a:p>
        </p:txBody>
      </p:sp>
      <p:sp>
        <p:nvSpPr>
          <p:cNvPr id="23" name="Text 23"/>
          <p:cNvSpPr txBox="1"/>
          <p:nvPr/>
        </p:nvSpPr>
        <p:spPr>
          <a:xfrm>
            <a:off x="3127248" y="4608576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buNone/>
            </a:pPr>
            <a:r>
              <a:rPr lang="zh-CN" sz="1400" b="1">
                <a:solidFill>
                  <a:srgbClr val="17212B"/>
                </a:solidFill>
                <a:latin typeface="Microsoft YaHei"/>
                <a:ea typeface="Microsoft YaHei"/>
              </a:rPr>
              <a:t>任何新增先验都必须在冻结基线上击败参数匹配的错误输入控制，否则收益只能解释为容量或shortcut。</a:t>
            </a:r>
            <a:endParaRPr lang="zh-CN" sz="1400"/>
          </a:p>
        </p:txBody>
      </p:sp>
      <p:sp>
        <p:nvSpPr>
          <p:cNvPr id="24" name="Shape 24"/>
          <p:cNvSpPr/>
          <p:nvPr/>
        </p:nvSpPr>
        <p:spPr>
          <a:xfrm>
            <a:off x="749808" y="5888736"/>
            <a:ext cx="10561320" cy="384048"/>
          </a:xfrm>
          <a:prstGeom prst="roundRect">
            <a:avLst/>
          </a:prstGeom>
          <a:solidFill>
            <a:srgbClr val="17212B"/>
          </a:solidFill>
          <a:ln w="10160">
            <a:solidFill>
              <a:srgbClr val="17212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932688" y="5943600"/>
            <a:ext cx="10195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/>
          <a:lstStyle/>
          <a:p>
            <a:pPr algn="ctr" marL="0" indent="0">
              <a:buNone/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推荐主标题：From Semantic Shortcuts to Geometric Contact Priors</a:t>
            </a:r>
            <a:endParaRPr lang="zh-CN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 Theme">
  <a:themeElements>
    <a:clrScheme name="Probe">
      <a:dk1>
        <a:srgbClr val="17212B"/>
      </a:dk1>
      <a:lt1>
        <a:srgbClr val="FFFFFF"/>
      </a:lt1>
      <a:dk2>
        <a:srgbClr val="334155"/>
      </a:dk2>
      <a:lt2>
        <a:srgbClr val="F5F7FA"/>
      </a:lt2>
      <a:accent1>
        <a:srgbClr val="2563EB"/>
      </a:accent1>
      <a:accent2>
        <a:srgbClr val="0F766E"/>
      </a:accent2>
      <a:accent3>
        <a:srgbClr val="EA580C"/>
      </a:accent3>
      <a:accent4>
        <a:srgbClr val="BE123C"/>
      </a:accent4>
      <a:accent5>
        <a:srgbClr val="7C3AED"/>
      </a:accent5>
      <a:accent6>
        <a:srgbClr val="0891B2"/>
      </a:accent6>
      <a:hlink>
        <a:srgbClr val="0563C1"/>
      </a:hlink>
      <a:folHlink>
        <a:srgbClr val="954F72"/>
      </a:folHlink>
    </a:clrScheme>
    <a:fontScheme name="Probe Fonts">
      <a:majorFont>
        <a:latin typeface="Aptos Display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Probe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 and Depth Probe Summary</dc:title>
  <dc:subject>Full-Hand Tactile Estimation</dc:subject>
  <dc:creator>Codex</dc:creator>
  <cp:lastModifiedBy>Codex</cp:lastModifiedBy>
  <dcterms:created xsi:type="dcterms:W3CDTF">2026-08-05T15:48:50Z</dcterms:created>
  <dcterms:modified xsi:type="dcterms:W3CDTF">2026-08-05T15:48:50Z</dcterms:modified>
</cp:coreProperties>
</file>